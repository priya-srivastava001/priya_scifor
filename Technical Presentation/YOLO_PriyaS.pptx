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Overpass"/>
      <p:regular r:id="rId33"/>
      <p:bold r:id="rId34"/>
      <p:italic r:id="rId35"/>
      <p:boldItalic r:id="rId36"/>
    </p:embeddedFont>
    <p:embeddedFont>
      <p:font typeface="Syne"/>
      <p:regular r:id="rId37"/>
      <p:bold r:id="rId38"/>
    </p:embeddedFont>
    <p:embeddedFont>
      <p:font typeface="Gill Sans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illSans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Overpass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Overpass-italic.fntdata"/><Relationship Id="rId12" Type="http://schemas.openxmlformats.org/officeDocument/2006/relationships/slide" Target="slides/slide6.xml"/><Relationship Id="rId34" Type="http://schemas.openxmlformats.org/officeDocument/2006/relationships/font" Target="fonts/Overpass-bold.fntdata"/><Relationship Id="rId15" Type="http://schemas.openxmlformats.org/officeDocument/2006/relationships/slide" Target="slides/slide9.xml"/><Relationship Id="rId37" Type="http://schemas.openxmlformats.org/officeDocument/2006/relationships/font" Target="fonts/Syne-regular.fntdata"/><Relationship Id="rId14" Type="http://schemas.openxmlformats.org/officeDocument/2006/relationships/slide" Target="slides/slide8.xml"/><Relationship Id="rId36" Type="http://schemas.openxmlformats.org/officeDocument/2006/relationships/font" Target="fonts/Overpass-boldItalic.fntdata"/><Relationship Id="rId17" Type="http://schemas.openxmlformats.org/officeDocument/2006/relationships/slide" Target="slides/slide11.xml"/><Relationship Id="rId39" Type="http://schemas.openxmlformats.org/officeDocument/2006/relationships/font" Target="fonts/GillSans-regular.fntdata"/><Relationship Id="rId16" Type="http://schemas.openxmlformats.org/officeDocument/2006/relationships/slide" Target="slides/slide10.xml"/><Relationship Id="rId38" Type="http://schemas.openxmlformats.org/officeDocument/2006/relationships/font" Target="fonts/Syne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f71e960b0_1_92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g2ef71e960b0_1_92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ef71e960b0_1_92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f71e960b0_1_106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2ef71e960b0_1_106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ef71e960b0_1_136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g2ef71e960b0_1_136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2ef71e960b0_1_136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f71e960b0_1_154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2ef71e960b0_1_154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2ef71e960b0_1_154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ef71e960b0_1_166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2ef71e960b0_1_166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2ef71e960b0_1_166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f71e960b0_1_187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g2ef71e960b0_1_187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2ef71e960b0_1_187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ef71e960b0_1_208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2ef71e960b0_1_208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ef71e960b0_1_212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2ef71e960b0_1_212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ef71e960b0_1_216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ef71e960b0_1_216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f71e960b0_1_220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ef71e960b0_1_220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f71e960b0_1_224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ef71e960b0_1_224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f71e960b0_1_228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2ef71e960b0_1_228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f71e960b0_1_233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ef71e960b0_1_233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ef71e960b0_1_237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2ef71e960b0_1_237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f71e960b0_1_241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2ef71e960b0_1_241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ef71e960b0_1_245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ef71e960b0_1_245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ef71e960b0_1_249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2ef71e960b0_1_249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ef71e960b0_1_253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ef71e960b0_1_253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ef71e960b0_1_257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2ef71e960b0_1_257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ef71e960b0_1_261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2ef71e960b0_1_261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ef71e960b0_1_265:notes"/>
          <p:cNvSpPr txBox="1"/>
          <p:nvPr>
            <p:ph idx="1" type="body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</p:spPr>
        <p:txBody>
          <a:bodyPr anchorCtr="0" anchor="t" bIns="69850" lIns="69850" spcFirstLastPara="1" rIns="69850" wrap="square" tIns="6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2ef71e960b0_1_265:notes"/>
          <p:cNvSpPr/>
          <p:nvPr>
            <p:ph idx="2" type="sldImg"/>
          </p:nvPr>
        </p:nvSpPr>
        <p:spPr>
          <a:xfrm>
            <a:off x="857406" y="685797"/>
            <a:ext cx="342915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ef71e960b0_1_269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g2ef71e960b0_1_269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2ef71e960b0_1_269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ef71e960b0_1_286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g2ef71e960b0_1_286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2ef71e960b0_1_286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ef71e960b0_1_307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g2ef71e960b0_1_307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2ef71e960b0_1_307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ef71e960b0_1_324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2ef71e960b0_1_324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2ef71e960b0_1_324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ef71e960b0_1_343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g2ef71e960b0_1_343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2ef71e960b0_1_343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1813334" y="601724"/>
            <a:ext cx="6477805" cy="19060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7150" spcFirstLastPara="1" rIns="57150" wrap="square" tIns="2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Gill Sans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813335" y="2648404"/>
            <a:ext cx="6477804" cy="733216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normAutofit/>
          </a:bodyPr>
          <a:lstStyle>
            <a:lvl1pPr lv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812376" y="246981"/>
            <a:ext cx="37304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1078248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1813335" y="2646406"/>
            <a:ext cx="6477804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1088684" y="603389"/>
            <a:ext cx="7202456" cy="78692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1088684" y="1511799"/>
            <a:ext cx="7202456" cy="25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984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3" name="Google Shape;73;p16"/>
          <p:cNvCxnSpPr/>
          <p:nvPr/>
        </p:nvCxnSpPr>
        <p:spPr>
          <a:xfrm>
            <a:off x="1090422" y="1385316"/>
            <a:ext cx="720564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090679" y="1317098"/>
            <a:ext cx="6482366" cy="1415963"/>
          </a:xfrm>
          <a:prstGeom prst="rect">
            <a:avLst/>
          </a:prstGeom>
          <a:noFill/>
          <a:ln>
            <a:noFill/>
          </a:ln>
        </p:spPr>
        <p:txBody>
          <a:bodyPr anchorCtr="0" anchor="b" bIns="28575" lIns="57150" spcFirstLastPara="1" rIns="57150" wrap="square" tIns="2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ill Sans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1090679" y="2854647"/>
            <a:ext cx="6472834" cy="75969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5715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0" name="Google Shape;80;p17"/>
          <p:cNvCxnSpPr/>
          <p:nvPr/>
        </p:nvCxnSpPr>
        <p:spPr>
          <a:xfrm>
            <a:off x="1090679" y="2853739"/>
            <a:ext cx="6472834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1086913" y="603667"/>
            <a:ext cx="7204226" cy="794479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1085498" y="1508159"/>
            <a:ext cx="3483864" cy="258644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984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10328" y="1513007"/>
            <a:ext cx="3483864" cy="2581140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984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8" name="Google Shape;88;p18"/>
          <p:cNvCxnSpPr/>
          <p:nvPr/>
        </p:nvCxnSpPr>
        <p:spPr>
          <a:xfrm>
            <a:off x="1090422" y="1385316"/>
            <a:ext cx="720564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1085394" y="603123"/>
            <a:ext cx="7205746" cy="792239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1085393" y="1514662"/>
            <a:ext cx="3483864" cy="601457"/>
          </a:xfrm>
          <a:prstGeom prst="rect">
            <a:avLst/>
          </a:prstGeom>
          <a:noFill/>
          <a:ln>
            <a:noFill/>
          </a:ln>
        </p:spPr>
        <p:txBody>
          <a:bodyPr anchorCtr="0" anchor="b" bIns="28575" lIns="57150" spcFirstLastPara="1" rIns="57150" wrap="square" tIns="285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b="0" sz="17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2" type="body"/>
          </p:nvPr>
        </p:nvSpPr>
        <p:spPr>
          <a:xfrm>
            <a:off x="1085393" y="2118202"/>
            <a:ext cx="3483864" cy="198334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984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3" type="body"/>
          </p:nvPr>
        </p:nvSpPr>
        <p:spPr>
          <a:xfrm>
            <a:off x="4809272" y="1517253"/>
            <a:ext cx="3483864" cy="601678"/>
          </a:xfrm>
          <a:prstGeom prst="rect">
            <a:avLst/>
          </a:prstGeom>
          <a:noFill/>
          <a:ln>
            <a:noFill/>
          </a:ln>
        </p:spPr>
        <p:txBody>
          <a:bodyPr anchorCtr="0" anchor="b" bIns="28575" lIns="57150" spcFirstLastPara="1" rIns="57150" wrap="square" tIns="285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b="0" sz="17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94" name="Google Shape;94;p19"/>
          <p:cNvSpPr txBox="1"/>
          <p:nvPr>
            <p:ph idx="4" type="body"/>
          </p:nvPr>
        </p:nvSpPr>
        <p:spPr>
          <a:xfrm>
            <a:off x="4809272" y="2116119"/>
            <a:ext cx="3483864" cy="197802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984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1" type="ftr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8" name="Google Shape;98;p19"/>
          <p:cNvCxnSpPr/>
          <p:nvPr/>
        </p:nvCxnSpPr>
        <p:spPr>
          <a:xfrm>
            <a:off x="1090422" y="1385316"/>
            <a:ext cx="720564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1088684" y="603389"/>
            <a:ext cx="7202456" cy="78692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1" type="ftr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4" name="Google Shape;104;p20"/>
          <p:cNvCxnSpPr/>
          <p:nvPr/>
        </p:nvCxnSpPr>
        <p:spPr>
          <a:xfrm>
            <a:off x="1090422" y="1385316"/>
            <a:ext cx="720564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1" type="ftr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1083504" y="599230"/>
            <a:ext cx="2454824" cy="1685338"/>
          </a:xfrm>
          <a:prstGeom prst="rect">
            <a:avLst/>
          </a:prstGeom>
          <a:noFill/>
          <a:ln>
            <a:noFill/>
          </a:ln>
        </p:spPr>
        <p:txBody>
          <a:bodyPr anchorCtr="0" anchor="b" bIns="28575" lIns="57150" spcFirstLastPara="1" rIns="57150" wrap="square" tIns="2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782786" y="599231"/>
            <a:ext cx="4509352" cy="3494119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rmAutofit/>
          </a:bodyPr>
          <a:lstStyle>
            <a:lvl1pPr indent="-2984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2" type="body"/>
          </p:nvPr>
        </p:nvSpPr>
        <p:spPr>
          <a:xfrm>
            <a:off x="1083504" y="2404119"/>
            <a:ext cx="2456260" cy="168613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22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1" type="ftr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6" name="Google Shape;116;p22"/>
          <p:cNvCxnSpPr/>
          <p:nvPr/>
        </p:nvCxnSpPr>
        <p:spPr>
          <a:xfrm>
            <a:off x="1086210" y="2404118"/>
            <a:ext cx="2452118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23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19" name="Google Shape;119;p23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3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23"/>
          <p:cNvSpPr txBox="1"/>
          <p:nvPr>
            <p:ph type="title"/>
          </p:nvPr>
        </p:nvSpPr>
        <p:spPr>
          <a:xfrm>
            <a:off x="1088404" y="847135"/>
            <a:ext cx="4149246" cy="1372938"/>
          </a:xfrm>
          <a:prstGeom prst="rect">
            <a:avLst/>
          </a:prstGeom>
          <a:noFill/>
          <a:ln>
            <a:noFill/>
          </a:ln>
        </p:spPr>
        <p:txBody>
          <a:bodyPr anchorCtr="0" anchor="b" bIns="28575" lIns="57150" spcFirstLastPara="1" rIns="57150" wrap="square" tIns="2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2" name="Google Shape;122;p23"/>
          <p:cNvSpPr/>
          <p:nvPr>
            <p:ph idx="2" type="pic"/>
          </p:nvPr>
        </p:nvSpPr>
        <p:spPr>
          <a:xfrm>
            <a:off x="6093293" y="841907"/>
            <a:ext cx="2093378" cy="289974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1087747" y="2359494"/>
            <a:ext cx="4143303" cy="15028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3"/>
          <p:cNvSpPr txBox="1"/>
          <p:nvPr>
            <p:ph idx="10" type="dt"/>
          </p:nvPr>
        </p:nvSpPr>
        <p:spPr>
          <a:xfrm>
            <a:off x="1085537" y="4102393"/>
            <a:ext cx="4145513" cy="240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1" type="ftr"/>
          </p:nvPr>
        </p:nvSpPr>
        <p:spPr>
          <a:xfrm>
            <a:off x="1085536" y="238981"/>
            <a:ext cx="4155753" cy="240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27" name="Google Shape;127;p23"/>
          <p:cNvCxnSpPr/>
          <p:nvPr/>
        </p:nvCxnSpPr>
        <p:spPr>
          <a:xfrm>
            <a:off x="1085537" y="2357704"/>
            <a:ext cx="4145513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1088684" y="603389"/>
            <a:ext cx="7202456" cy="78692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 rot="5400000">
            <a:off x="3395932" y="-795449"/>
            <a:ext cx="2587960" cy="72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984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1" type="ftr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4" name="Google Shape;134;p24"/>
          <p:cNvCxnSpPr/>
          <p:nvPr/>
        </p:nvCxnSpPr>
        <p:spPr>
          <a:xfrm>
            <a:off x="1090422" y="1385316"/>
            <a:ext cx="720564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 rot="5400000">
            <a:off x="5937778" y="1740785"/>
            <a:ext cx="3494917" cy="12118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 rot="5400000">
            <a:off x="2271857" y="-589123"/>
            <a:ext cx="3494917" cy="587162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984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1" type="ftr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1" name="Google Shape;141;p25"/>
          <p:cNvCxnSpPr/>
          <p:nvPr/>
        </p:nvCxnSpPr>
        <p:spPr>
          <a:xfrm>
            <a:off x="7079333" y="599230"/>
            <a:ext cx="0" cy="3494917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4594860"/>
            <a:ext cx="9144000" cy="5572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1088684" y="603389"/>
            <a:ext cx="7202456" cy="78692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1088684" y="1511799"/>
            <a:ext cx="7202456" cy="25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323850" lvl="0" marL="4572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17500" lvl="1" marL="9144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450" lvl="3" marL="18288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85750" lvl="4" marL="22860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85750" lvl="5" marL="27432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85750" lvl="6" marL="32004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85750" lvl="7" marL="3657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360046" y="599229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8" name="Google Shape;58;p13"/>
          <p:cNvCxnSpPr/>
          <p:nvPr/>
        </p:nvCxnSpPr>
        <p:spPr>
          <a:xfrm>
            <a:off x="0" y="459631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43.png"/><Relationship Id="rId6" Type="http://schemas.openxmlformats.org/officeDocument/2006/relationships/image" Target="../media/image33.png"/><Relationship Id="rId7" Type="http://schemas.openxmlformats.org/officeDocument/2006/relationships/image" Target="../media/image37.png"/><Relationship Id="rId8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png"/><Relationship Id="rId4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7881" y="1204838"/>
            <a:ext cx="3043163" cy="27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/>
          <p:nvPr/>
        </p:nvSpPr>
        <p:spPr>
          <a:xfrm>
            <a:off x="540023" y="865807"/>
            <a:ext cx="4634954" cy="199623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03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200"/>
              <a:buFont typeface="Syne"/>
              <a:buNone/>
            </a:pPr>
            <a:r>
              <a:rPr b="1" i="0" lang="en-GB" sz="4200" u="sng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Introduction to YOLO Algorithm</a:t>
            </a:r>
            <a:endParaRPr b="0" i="0" sz="4200" u="sng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540023" y="3093467"/>
            <a:ext cx="4634954" cy="74071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b="0" i="0" lang="en-GB" sz="1200" u="none" cap="none" strike="noStrik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 YOLO (You Only Look Once) is a real-time object detection system that processes images in a single pass, making it highly efficient and accurate for a variety of applications.</a:t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540023" y="4019253"/>
            <a:ext cx="246831" cy="246831"/>
          </a:xfrm>
          <a:prstGeom prst="roundRect">
            <a:avLst>
              <a:gd fmla="val 23151155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786" y="4024015"/>
            <a:ext cx="237306" cy="23730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/>
          <p:nvPr/>
        </p:nvSpPr>
        <p:spPr>
          <a:xfrm>
            <a:off x="863947" y="4007718"/>
            <a:ext cx="1730350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Overpass"/>
              <a:buNone/>
            </a:pPr>
            <a:r>
              <a:rPr b="1" i="0" lang="en-GB" sz="1500" u="none" cap="none" strike="noStrik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by Priya Srivastava</a:t>
            </a:r>
            <a:endParaRPr b="0" i="0" sz="15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7"/>
          <p:cNvGrpSpPr/>
          <p:nvPr/>
        </p:nvGrpSpPr>
        <p:grpSpPr>
          <a:xfrm>
            <a:off x="2871544" y="92971"/>
            <a:ext cx="3365633" cy="4943445"/>
            <a:chOff x="2991449" y="1999"/>
            <a:chExt cx="5385013" cy="7909512"/>
          </a:xfrm>
        </p:grpSpPr>
        <p:sp>
          <p:nvSpPr>
            <p:cNvPr id="161" name="Google Shape;161;p27"/>
            <p:cNvSpPr/>
            <p:nvPr/>
          </p:nvSpPr>
          <p:spPr>
            <a:xfrm>
              <a:off x="4082415" y="3956755"/>
              <a:ext cx="715674" cy="340927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7686B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7"/>
            <p:cNvSpPr txBox="1"/>
            <p:nvPr/>
          </p:nvSpPr>
          <p:spPr>
            <a:xfrm>
              <a:off x="4353163" y="5574302"/>
              <a:ext cx="174178" cy="174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7950" spcFirstLastPara="1" rIns="795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4082415" y="3956755"/>
              <a:ext cx="715674" cy="204556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7686B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7"/>
            <p:cNvSpPr txBox="1"/>
            <p:nvPr/>
          </p:nvSpPr>
          <p:spPr>
            <a:xfrm>
              <a:off x="4386074" y="4925358"/>
              <a:ext cx="108357" cy="10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7950" spcFirstLastPara="1" rIns="795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4082415" y="3956755"/>
              <a:ext cx="715674" cy="68185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7686B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7"/>
            <p:cNvSpPr txBox="1"/>
            <p:nvPr/>
          </p:nvSpPr>
          <p:spPr>
            <a:xfrm>
              <a:off x="4415540" y="4272970"/>
              <a:ext cx="49424" cy="49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7950" spcFirstLastPara="1" rIns="795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4082415" y="3274901"/>
              <a:ext cx="715674" cy="681854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15875">
              <a:solidFill>
                <a:srgbClr val="7686B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7"/>
            <p:cNvSpPr txBox="1"/>
            <p:nvPr/>
          </p:nvSpPr>
          <p:spPr>
            <a:xfrm>
              <a:off x="4415540" y="3591115"/>
              <a:ext cx="49424" cy="49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7950" spcFirstLastPara="1" rIns="795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4082415" y="1911192"/>
              <a:ext cx="715674" cy="2045563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15875">
              <a:solidFill>
                <a:srgbClr val="7686B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7"/>
            <p:cNvSpPr txBox="1"/>
            <p:nvPr/>
          </p:nvSpPr>
          <p:spPr>
            <a:xfrm>
              <a:off x="4386074" y="2879795"/>
              <a:ext cx="108357" cy="10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7950" spcFirstLastPara="1" rIns="795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4082415" y="547483"/>
              <a:ext cx="715674" cy="3409272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15875">
              <a:solidFill>
                <a:srgbClr val="7686B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7"/>
            <p:cNvSpPr txBox="1"/>
            <p:nvPr/>
          </p:nvSpPr>
          <p:spPr>
            <a:xfrm>
              <a:off x="4353163" y="2165029"/>
              <a:ext cx="174178" cy="174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7950" spcFirstLastPara="1" rIns="795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 rot="-5400000">
              <a:off x="665966" y="3411271"/>
              <a:ext cx="5741932" cy="1090967"/>
            </a:xfrm>
            <a:prstGeom prst="rect">
              <a:avLst/>
            </a:prstGeom>
            <a:solidFill>
              <a:schemeClr val="accent5">
                <a:alpha val="80000"/>
              </a:schemeClr>
            </a:solidFill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7"/>
            <p:cNvSpPr txBox="1"/>
            <p:nvPr/>
          </p:nvSpPr>
          <p:spPr>
            <a:xfrm rot="-5400000">
              <a:off x="665966" y="3411271"/>
              <a:ext cx="5741932" cy="10909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800" lIns="25800" spcFirstLastPara="1" rIns="25800" wrap="square" tIns="25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41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AGENDA:</a:t>
              </a:r>
              <a:endParaRPr sz="4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4798090" y="1999"/>
              <a:ext cx="3578372" cy="1090967"/>
            </a:xfrm>
            <a:prstGeom prst="rect">
              <a:avLst/>
            </a:prstGeom>
            <a:solidFill>
              <a:schemeClr val="accent5">
                <a:alpha val="69803"/>
              </a:schemeClr>
            </a:solidFill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7"/>
            <p:cNvSpPr txBox="1"/>
            <p:nvPr/>
          </p:nvSpPr>
          <p:spPr>
            <a:xfrm>
              <a:off x="4798090" y="1999"/>
              <a:ext cx="3578372" cy="10909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075" lIns="15075" spcFirstLastPara="1" rIns="15075" wrap="square" tIns="15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What is Object Detection</a:t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4798090" y="1365708"/>
              <a:ext cx="3578372" cy="1090967"/>
            </a:xfrm>
            <a:prstGeom prst="rect">
              <a:avLst/>
            </a:prstGeom>
            <a:solidFill>
              <a:schemeClr val="accent5">
                <a:alpha val="69803"/>
              </a:schemeClr>
            </a:solidFill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7"/>
            <p:cNvSpPr txBox="1"/>
            <p:nvPr/>
          </p:nvSpPr>
          <p:spPr>
            <a:xfrm>
              <a:off x="4798090" y="1365708"/>
              <a:ext cx="3578372" cy="10909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075" lIns="15075" spcFirstLastPara="1" rIns="15075" wrap="square" tIns="15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YOLO?</a:t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4798090" y="2729417"/>
              <a:ext cx="3578372" cy="1090967"/>
            </a:xfrm>
            <a:prstGeom prst="rect">
              <a:avLst/>
            </a:prstGeom>
            <a:solidFill>
              <a:schemeClr val="accent5">
                <a:alpha val="69803"/>
              </a:schemeClr>
            </a:solidFill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7"/>
            <p:cNvSpPr txBox="1"/>
            <p:nvPr/>
          </p:nvSpPr>
          <p:spPr>
            <a:xfrm>
              <a:off x="4798090" y="2729417"/>
              <a:ext cx="3578372" cy="10909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075" lIns="15075" spcFirstLastPara="1" rIns="15075" wrap="square" tIns="15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YOLO Architecture</a:t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4798090" y="4093126"/>
              <a:ext cx="3578372" cy="1090967"/>
            </a:xfrm>
            <a:prstGeom prst="rect">
              <a:avLst/>
            </a:prstGeom>
            <a:solidFill>
              <a:schemeClr val="accent5">
                <a:alpha val="69803"/>
              </a:schemeClr>
            </a:solidFill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7"/>
            <p:cNvSpPr txBox="1"/>
            <p:nvPr/>
          </p:nvSpPr>
          <p:spPr>
            <a:xfrm>
              <a:off x="4798090" y="4093126"/>
              <a:ext cx="3578372" cy="10909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075" lIns="15075" spcFirstLastPara="1" rIns="15075" wrap="square" tIns="15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How YOLO Works?</a:t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4798090" y="5456835"/>
              <a:ext cx="3578372" cy="1090967"/>
            </a:xfrm>
            <a:prstGeom prst="rect">
              <a:avLst/>
            </a:prstGeom>
            <a:solidFill>
              <a:schemeClr val="accent5">
                <a:alpha val="69803"/>
              </a:schemeClr>
            </a:solidFill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7"/>
            <p:cNvSpPr txBox="1"/>
            <p:nvPr/>
          </p:nvSpPr>
          <p:spPr>
            <a:xfrm>
              <a:off x="4798090" y="5456835"/>
              <a:ext cx="3578372" cy="10909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075" lIns="15075" spcFirstLastPara="1" rIns="15075" wrap="square" tIns="15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Real-Scenario with YOLO</a:t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4798090" y="6820544"/>
              <a:ext cx="3578372" cy="1090967"/>
            </a:xfrm>
            <a:prstGeom prst="rect">
              <a:avLst/>
            </a:prstGeom>
            <a:solidFill>
              <a:schemeClr val="accent5">
                <a:alpha val="69803"/>
              </a:schemeClr>
            </a:solidFill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 txBox="1"/>
            <p:nvPr/>
          </p:nvSpPr>
          <p:spPr>
            <a:xfrm>
              <a:off x="4798090" y="6820544"/>
              <a:ext cx="3578372" cy="10909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075" lIns="15075" spcFirstLastPara="1" rIns="15075" wrap="square" tIns="15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Demo Code</a:t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956" y="1828726"/>
            <a:ext cx="3043089" cy="148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/>
          <p:nvPr/>
        </p:nvSpPr>
        <p:spPr>
          <a:xfrm>
            <a:off x="3969023" y="685428"/>
            <a:ext cx="4634954" cy="9644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3000"/>
              <a:buFont typeface="Syne"/>
              <a:buNone/>
            </a:pPr>
            <a:r>
              <a:rPr b="1" lang="en-GB" sz="3000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What is Object Detection?</a:t>
            </a:r>
            <a:endParaRPr sz="3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3969023" y="2054796"/>
            <a:ext cx="347142" cy="347142"/>
          </a:xfrm>
          <a:prstGeom prst="roundRect">
            <a:avLst>
              <a:gd fmla="val 18669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4097461" y="2112615"/>
            <a:ext cx="90264" cy="23142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Syne"/>
              <a:buNone/>
            </a:pPr>
            <a:r>
              <a:rPr b="1" lang="en-GB" sz="18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1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4470425" y="2054796"/>
            <a:ext cx="192881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Definition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4470425" y="2388468"/>
            <a:ext cx="4133552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Identifying and locating objects within an image or video.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3969023" y="2963168"/>
            <a:ext cx="347142" cy="347142"/>
          </a:xfrm>
          <a:prstGeom prst="roundRect">
            <a:avLst>
              <a:gd fmla="val 18669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/>
          <p:nvPr/>
        </p:nvSpPr>
        <p:spPr>
          <a:xfrm>
            <a:off x="4070375" y="3020988"/>
            <a:ext cx="144438" cy="23142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Syne"/>
              <a:buNone/>
            </a:pPr>
            <a:r>
              <a:rPr b="1" lang="en-GB" sz="18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2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4470425" y="2963168"/>
            <a:ext cx="192881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Example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4470425" y="3296841"/>
            <a:ext cx="4133552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Detecting cars, pedestrians, and traffic signs in an image.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3969023" y="3717280"/>
            <a:ext cx="4634954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Object detection is a crucial task in computer vision, with applications in areas like autonomous driving, security, and medical imaging &amp; much more.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9"/>
          <p:cNvSpPr/>
          <p:nvPr/>
        </p:nvSpPr>
        <p:spPr>
          <a:xfrm>
            <a:off x="21167" y="0"/>
            <a:ext cx="9144000" cy="51435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9"/>
          <p:cNvSpPr/>
          <p:nvPr/>
        </p:nvSpPr>
        <p:spPr>
          <a:xfrm>
            <a:off x="540023" y="1500336"/>
            <a:ext cx="6005587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3000"/>
              <a:buFont typeface="Syne"/>
              <a:buNone/>
            </a:pPr>
            <a:r>
              <a:rPr b="1" lang="en-GB" sz="3000" u="sng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Overview of YOLO Algorithm</a:t>
            </a:r>
            <a:endParaRPr sz="30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540023" y="2368228"/>
            <a:ext cx="192881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What is YOLO?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540023" y="2763589"/>
            <a:ext cx="3843784" cy="74071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YOLO stands for "You Only Look Once." It is a real-time object detection system developed by Joseph Redmon et al.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4764956" y="2368228"/>
            <a:ext cx="192881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Key Features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4764956" y="2763589"/>
            <a:ext cx="3843784" cy="74071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YOLO processes images in a single pass, making it highly efficient and accurate compared to traditional object detection methods.</a:t>
            </a:r>
            <a:endParaRPr sz="900"/>
          </a:p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4764956" y="3536218"/>
            <a:ext cx="4233334" cy="24469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sp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Noto Sans Symbols"/>
              <a:buChar char="✔"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It is so fast and accurate</a:t>
            </a:r>
            <a:endParaRPr sz="1200">
              <a:solidFill>
                <a:srgbClr val="3B4E4E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881" y="1587773"/>
            <a:ext cx="3043163" cy="196795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0"/>
          <p:cNvSpPr/>
          <p:nvPr/>
        </p:nvSpPr>
        <p:spPr>
          <a:xfrm>
            <a:off x="3969023" y="603573"/>
            <a:ext cx="3965674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3000"/>
              <a:buFont typeface="Syne"/>
              <a:buNone/>
            </a:pPr>
            <a:r>
              <a:rPr b="1" lang="en-GB" sz="3000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YOLO Architecture</a:t>
            </a:r>
            <a:endParaRPr sz="3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4026880" y="1490737"/>
            <a:ext cx="347142" cy="347142"/>
          </a:xfrm>
          <a:prstGeom prst="roundRect">
            <a:avLst>
              <a:gd fmla="val 18669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4155319" y="1548557"/>
            <a:ext cx="90264" cy="23142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Syne"/>
              <a:buNone/>
            </a:pPr>
            <a:r>
              <a:rPr b="1" lang="en-GB" sz="18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1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5049069" y="1471464"/>
            <a:ext cx="192881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Grid Division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5049069" y="1805136"/>
            <a:ext cx="3554909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The input image is divided into an S×S grid.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4026880" y="2534096"/>
            <a:ext cx="347142" cy="347142"/>
          </a:xfrm>
          <a:prstGeom prst="roundRect">
            <a:avLst>
              <a:gd fmla="val 18669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4128232" y="2591916"/>
            <a:ext cx="144438" cy="23142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Syne"/>
              <a:buNone/>
            </a:pPr>
            <a:r>
              <a:rPr b="1" lang="en-GB" sz="18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2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5049069" y="2514823"/>
            <a:ext cx="2605459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Bounding Box Prediction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5049069" y="2848496"/>
            <a:ext cx="3554909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Each grid cell predicts B bounding boxes and confidence scores.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4026880" y="3824362"/>
            <a:ext cx="347142" cy="347142"/>
          </a:xfrm>
          <a:prstGeom prst="roundRect">
            <a:avLst>
              <a:gd fmla="val 18669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0"/>
          <p:cNvSpPr/>
          <p:nvPr/>
        </p:nvSpPr>
        <p:spPr>
          <a:xfrm>
            <a:off x="4126223" y="3882182"/>
            <a:ext cx="148382" cy="23142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Syne"/>
              <a:buNone/>
            </a:pPr>
            <a:r>
              <a:rPr b="1" lang="en-GB" sz="18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3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5049069" y="3805089"/>
            <a:ext cx="2212777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Object Classification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0" name="Google Shape;240;p30"/>
          <p:cNvSpPr/>
          <p:nvPr/>
        </p:nvSpPr>
        <p:spPr>
          <a:xfrm>
            <a:off x="5049069" y="4138761"/>
            <a:ext cx="3554909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Class probabilities are predicted for each grid cell.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9" name="Google Shape;24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549" y="1168599"/>
            <a:ext cx="3123828" cy="280630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1"/>
          <p:cNvSpPr/>
          <p:nvPr/>
        </p:nvSpPr>
        <p:spPr>
          <a:xfrm>
            <a:off x="3856286" y="336054"/>
            <a:ext cx="3052168" cy="381521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400"/>
              <a:buFont typeface="Syne"/>
              <a:buNone/>
            </a:pPr>
            <a:r>
              <a:rPr b="1" lang="en-GB" sz="2400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How YOLO Works</a:t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reencoded.png" id="251" name="Google Shape;25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6286" y="900633"/>
            <a:ext cx="610419" cy="97668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1"/>
          <p:cNvSpPr/>
          <p:nvPr/>
        </p:nvSpPr>
        <p:spPr>
          <a:xfrm>
            <a:off x="4649763" y="1022673"/>
            <a:ext cx="1526084" cy="19072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4961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Syne"/>
              <a:buNone/>
            </a:pPr>
            <a:r>
              <a:rPr b="1" lang="en-GB" sz="12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Step 1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4649762" y="1286619"/>
            <a:ext cx="4066952" cy="1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60013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000"/>
              <a:buFont typeface="Overpass"/>
              <a:buNone/>
            </a:pPr>
            <a:r>
              <a:rPr lang="en-GB" sz="10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Divide the input image into an S×S grid.</a:t>
            </a:r>
            <a:endParaRPr sz="1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reencoded.png" id="254" name="Google Shape;254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56286" y="1877318"/>
            <a:ext cx="610419" cy="97668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1"/>
          <p:cNvSpPr/>
          <p:nvPr/>
        </p:nvSpPr>
        <p:spPr>
          <a:xfrm>
            <a:off x="4649763" y="1999357"/>
            <a:ext cx="1526084" cy="19072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4961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Syne"/>
              <a:buNone/>
            </a:pPr>
            <a:r>
              <a:rPr b="1" lang="en-GB" sz="12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Step 2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4649762" y="2263304"/>
            <a:ext cx="4066952" cy="1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60013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000"/>
              <a:buFont typeface="Overpass"/>
              <a:buNone/>
            </a:pPr>
            <a:r>
              <a:rPr lang="en-GB" sz="10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Predict B bounding boxes and confidence scores for each grid cell.</a:t>
            </a:r>
            <a:endParaRPr sz="1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reencoded.png" id="257" name="Google Shape;25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56286" y="2854003"/>
            <a:ext cx="610419" cy="97668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1"/>
          <p:cNvSpPr/>
          <p:nvPr/>
        </p:nvSpPr>
        <p:spPr>
          <a:xfrm>
            <a:off x="4649763" y="2976042"/>
            <a:ext cx="1526084" cy="19072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4961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Syne"/>
              <a:buNone/>
            </a:pPr>
            <a:r>
              <a:rPr b="1" lang="en-GB" sz="12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Step 3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9" name="Google Shape;259;p31"/>
          <p:cNvSpPr/>
          <p:nvPr/>
        </p:nvSpPr>
        <p:spPr>
          <a:xfrm>
            <a:off x="4649762" y="3239988"/>
            <a:ext cx="4066952" cy="1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60013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000"/>
              <a:buFont typeface="Overpass"/>
              <a:buNone/>
            </a:pPr>
            <a:r>
              <a:rPr lang="en-GB" sz="10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Classify the object within each bounding box.</a:t>
            </a:r>
            <a:endParaRPr sz="1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reencoded.png" id="260" name="Google Shape;260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286" y="3830687"/>
            <a:ext cx="610419" cy="97668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1"/>
          <p:cNvSpPr/>
          <p:nvPr/>
        </p:nvSpPr>
        <p:spPr>
          <a:xfrm>
            <a:off x="4649763" y="3952726"/>
            <a:ext cx="1526084" cy="19072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4961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Syne"/>
              <a:buNone/>
            </a:pPr>
            <a:r>
              <a:rPr b="1" lang="en-GB" sz="12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Step 4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2" name="Google Shape;262;p31"/>
          <p:cNvSpPr/>
          <p:nvPr/>
        </p:nvSpPr>
        <p:spPr>
          <a:xfrm>
            <a:off x="4649762" y="4216673"/>
            <a:ext cx="4066952" cy="1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60013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000"/>
              <a:buFont typeface="Overpass"/>
              <a:buNone/>
            </a:pPr>
            <a:r>
              <a:rPr lang="en-GB" sz="10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Apply Non-Max Suppression to remove duplicate detections.</a:t>
            </a:r>
            <a:endParaRPr sz="1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918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3464"/>
            <a:ext cx="8109479" cy="458546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037" y="0"/>
            <a:ext cx="7968964" cy="4473223"/>
          </a:xfrm>
          <a:prstGeom prst="rect">
            <a:avLst/>
          </a:prstGeom>
          <a:noFill/>
          <a:ln cap="sq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8106833" cy="440411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54" y="0"/>
            <a:ext cx="8106546" cy="449438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7"/>
          <p:cNvPicPr preferRelativeResize="0"/>
          <p:nvPr/>
        </p:nvPicPr>
        <p:blipFill rotWithShape="1">
          <a:blip r:embed="rId3">
            <a:alphaModFix/>
          </a:blip>
          <a:srcRect b="0" l="0" r="212" t="0"/>
          <a:stretch/>
        </p:blipFill>
        <p:spPr>
          <a:xfrm>
            <a:off x="-1" y="0"/>
            <a:ext cx="4402667" cy="312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6841" y="1968501"/>
            <a:ext cx="4687160" cy="31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824611" cy="4679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7598" y="-1"/>
            <a:ext cx="7766403" cy="443794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7988456" cy="42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1762" y="0"/>
            <a:ext cx="7982238" cy="4600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831667" cy="4542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111" y="-1"/>
            <a:ext cx="7859889" cy="470547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500" y="667497"/>
            <a:ext cx="6766277" cy="3755179"/>
          </a:xfrm>
          <a:prstGeom prst="rect">
            <a:avLst/>
          </a:prstGeom>
          <a:solidFill>
            <a:srgbClr val="ECECEC"/>
          </a:solidFill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233" y="639850"/>
            <a:ext cx="6834800" cy="3918038"/>
          </a:xfrm>
          <a:prstGeom prst="rect">
            <a:avLst/>
          </a:prstGeom>
          <a:solidFill>
            <a:srgbClr val="ECECEC"/>
          </a:solidFill>
          <a:ln cap="rnd" cmpd="sng" w="1905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algn="tl">
              <a:srgbClr val="000000">
                <a:alpha val="40784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897" y="797278"/>
            <a:ext cx="6915149" cy="3428999"/>
          </a:xfrm>
          <a:prstGeom prst="rect">
            <a:avLst/>
          </a:prstGeom>
          <a:solidFill>
            <a:srgbClr val="ECECEC"/>
          </a:solidFill>
          <a:ln cap="rnd" cmpd="sng" w="1905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algn="tl">
              <a:srgbClr val="000000">
                <a:alpha val="40784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928813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7"/>
          <p:cNvSpPr/>
          <p:nvPr/>
        </p:nvSpPr>
        <p:spPr>
          <a:xfrm>
            <a:off x="540023" y="2354907"/>
            <a:ext cx="4406578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3000"/>
              <a:buFont typeface="Syne"/>
              <a:buNone/>
            </a:pPr>
            <a:r>
              <a:rPr b="1" lang="en-GB" sz="3000" u="sng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Advantages of YOLO</a:t>
            </a:r>
            <a:endParaRPr sz="30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8" name="Google Shape;348;p47"/>
          <p:cNvSpPr/>
          <p:nvPr/>
        </p:nvSpPr>
        <p:spPr>
          <a:xfrm>
            <a:off x="540023" y="3068538"/>
            <a:ext cx="2585144" cy="1648867"/>
          </a:xfrm>
          <a:prstGeom prst="roundRect">
            <a:avLst>
              <a:gd fmla="val 3930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7"/>
          <p:cNvSpPr/>
          <p:nvPr/>
        </p:nvSpPr>
        <p:spPr>
          <a:xfrm>
            <a:off x="703808" y="3232324"/>
            <a:ext cx="192881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 u="sng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Speed</a:t>
            </a:r>
            <a:endParaRPr sz="15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0" name="Google Shape;350;p47"/>
          <p:cNvSpPr/>
          <p:nvPr/>
        </p:nvSpPr>
        <p:spPr>
          <a:xfrm>
            <a:off x="703808" y="3565996"/>
            <a:ext cx="2257574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YOLO processes images in real-time, making it highly efficient.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1" name="Google Shape;351;p47"/>
          <p:cNvSpPr/>
          <p:nvPr/>
        </p:nvSpPr>
        <p:spPr>
          <a:xfrm>
            <a:off x="3279427" y="3068538"/>
            <a:ext cx="2585144" cy="1648867"/>
          </a:xfrm>
          <a:prstGeom prst="roundRect">
            <a:avLst>
              <a:gd fmla="val 3930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7"/>
          <p:cNvSpPr/>
          <p:nvPr/>
        </p:nvSpPr>
        <p:spPr>
          <a:xfrm>
            <a:off x="3443213" y="3232324"/>
            <a:ext cx="192881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 u="sng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Accuracy</a:t>
            </a:r>
            <a:endParaRPr sz="15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3" name="Google Shape;353;p47"/>
          <p:cNvSpPr/>
          <p:nvPr/>
        </p:nvSpPr>
        <p:spPr>
          <a:xfrm>
            <a:off x="3443213" y="3565996"/>
            <a:ext cx="2257574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YOLO achieves high accuracy with fewer background errors.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4" name="Google Shape;354;p47"/>
          <p:cNvSpPr/>
          <p:nvPr/>
        </p:nvSpPr>
        <p:spPr>
          <a:xfrm>
            <a:off x="6018833" y="3068538"/>
            <a:ext cx="2585144" cy="1648867"/>
          </a:xfrm>
          <a:prstGeom prst="roundRect">
            <a:avLst>
              <a:gd fmla="val 3930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7"/>
          <p:cNvSpPr/>
          <p:nvPr/>
        </p:nvSpPr>
        <p:spPr>
          <a:xfrm>
            <a:off x="6182618" y="3232324"/>
            <a:ext cx="1928812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 u="sng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Unified Model</a:t>
            </a:r>
            <a:endParaRPr sz="15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6" name="Google Shape;356;p47"/>
          <p:cNvSpPr/>
          <p:nvPr/>
        </p:nvSpPr>
        <p:spPr>
          <a:xfrm>
            <a:off x="6182618" y="3565996"/>
            <a:ext cx="2257574" cy="98762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YOLO uses a single neural network to predict bounding boxes and class probabilities directly.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8"/>
          <p:cNvSpPr/>
          <p:nvPr/>
        </p:nvSpPr>
        <p:spPr>
          <a:xfrm>
            <a:off x="0" y="0"/>
            <a:ext cx="9144000" cy="5202511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202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5" name="Google Shape;36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987" y="1641723"/>
            <a:ext cx="3158951" cy="191906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8"/>
          <p:cNvSpPr/>
          <p:nvPr/>
        </p:nvSpPr>
        <p:spPr>
          <a:xfrm>
            <a:off x="3807024" y="296986"/>
            <a:ext cx="4913039" cy="33754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14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100"/>
              <a:buFont typeface="Syne"/>
              <a:buNone/>
            </a:pPr>
            <a:r>
              <a:rPr b="1" lang="en-GB" sz="2100" u="sng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Real-World Applications of YOLO</a:t>
            </a:r>
            <a:endParaRPr sz="21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reencoded.png" id="367" name="Google Shape;36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7024" y="796528"/>
            <a:ext cx="269974" cy="26997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8"/>
          <p:cNvSpPr/>
          <p:nvPr/>
        </p:nvSpPr>
        <p:spPr>
          <a:xfrm>
            <a:off x="3807024" y="1174477"/>
            <a:ext cx="1504578" cy="16869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Syne"/>
              <a:buNone/>
            </a:pPr>
            <a:r>
              <a:rPr b="1" lang="en-GB" sz="11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Autonomous Driving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9" name="Google Shape;369;p48"/>
          <p:cNvSpPr/>
          <p:nvPr/>
        </p:nvSpPr>
        <p:spPr>
          <a:xfrm>
            <a:off x="3807024" y="1407914"/>
            <a:ext cx="4958953" cy="17286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55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900"/>
              <a:buFont typeface="Overpass"/>
              <a:buNone/>
            </a:pPr>
            <a:r>
              <a:rPr lang="en-GB" sz="9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Vehicle and pedestrian detection</a:t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reencoded.png" id="370" name="Google Shape;370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07024" y="1904777"/>
            <a:ext cx="269974" cy="269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8"/>
          <p:cNvSpPr/>
          <p:nvPr/>
        </p:nvSpPr>
        <p:spPr>
          <a:xfrm>
            <a:off x="3807024" y="2282726"/>
            <a:ext cx="1862286" cy="16869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Syne"/>
              <a:buNone/>
            </a:pPr>
            <a:r>
              <a:rPr b="1" lang="en-GB" sz="11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Security and Surveillance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2" name="Google Shape;372;p48"/>
          <p:cNvSpPr/>
          <p:nvPr/>
        </p:nvSpPr>
        <p:spPr>
          <a:xfrm>
            <a:off x="3807024" y="2516163"/>
            <a:ext cx="4958953" cy="17286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55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900"/>
              <a:buFont typeface="Overpass"/>
              <a:buNone/>
            </a:pPr>
            <a:r>
              <a:rPr lang="en-GB" sz="9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Identifying suspicious activities</a:t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reencoded.png" id="373" name="Google Shape;373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07024" y="3013026"/>
            <a:ext cx="269974" cy="269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8"/>
          <p:cNvSpPr/>
          <p:nvPr/>
        </p:nvSpPr>
        <p:spPr>
          <a:xfrm>
            <a:off x="3807024" y="3390974"/>
            <a:ext cx="1350169" cy="16869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Syne"/>
              <a:buNone/>
            </a:pPr>
            <a:r>
              <a:rPr b="1" lang="en-GB" sz="11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Medical Imaging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5" name="Google Shape;375;p48"/>
          <p:cNvSpPr/>
          <p:nvPr/>
        </p:nvSpPr>
        <p:spPr>
          <a:xfrm>
            <a:off x="3807024" y="3624411"/>
            <a:ext cx="4958953" cy="17286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55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900"/>
              <a:buFont typeface="Overpass"/>
              <a:buNone/>
            </a:pPr>
            <a:r>
              <a:rPr lang="en-GB" sz="9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Detecting anomalies in scans</a:t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reencoded.png" id="376" name="Google Shape;376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07024" y="4121274"/>
            <a:ext cx="269974" cy="269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8"/>
          <p:cNvSpPr/>
          <p:nvPr/>
        </p:nvSpPr>
        <p:spPr>
          <a:xfrm>
            <a:off x="3807024" y="4499223"/>
            <a:ext cx="1549971" cy="16869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Syne"/>
              <a:buNone/>
            </a:pPr>
            <a:r>
              <a:rPr b="1" lang="en-GB" sz="11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Robotics and Drones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8" name="Google Shape;378;p48"/>
          <p:cNvSpPr/>
          <p:nvPr/>
        </p:nvSpPr>
        <p:spPr>
          <a:xfrm>
            <a:off x="3807024" y="4732660"/>
            <a:ext cx="4958953" cy="17286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55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900"/>
              <a:buFont typeface="Overpass"/>
              <a:buNone/>
            </a:pPr>
            <a:r>
              <a:rPr lang="en-GB" sz="9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Obstacle detection and avoidance</a:t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6" name="Google Shape;38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7" name="Google Shape;38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956" y="2039169"/>
            <a:ext cx="3043089" cy="106508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9"/>
          <p:cNvSpPr/>
          <p:nvPr/>
        </p:nvSpPr>
        <p:spPr>
          <a:xfrm>
            <a:off x="3969023" y="1142554"/>
            <a:ext cx="4634954" cy="9644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3000"/>
              <a:buFont typeface="Syne"/>
              <a:buNone/>
            </a:pPr>
            <a:r>
              <a:rPr b="1" lang="en-GB" sz="3000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YOLO Demo and Scratch Code</a:t>
            </a:r>
            <a:endParaRPr sz="3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9" name="Google Shape;389;p49"/>
          <p:cNvSpPr/>
          <p:nvPr/>
        </p:nvSpPr>
        <p:spPr>
          <a:xfrm>
            <a:off x="3969023" y="2511921"/>
            <a:ext cx="347142" cy="347142"/>
          </a:xfrm>
          <a:prstGeom prst="roundRect">
            <a:avLst>
              <a:gd fmla="val 18669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9"/>
          <p:cNvSpPr/>
          <p:nvPr/>
        </p:nvSpPr>
        <p:spPr>
          <a:xfrm>
            <a:off x="4097461" y="2569741"/>
            <a:ext cx="90264" cy="23142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Syne"/>
              <a:buNone/>
            </a:pPr>
            <a:r>
              <a:rPr b="1" lang="en-GB" sz="18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1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1" name="Google Shape;391;p49"/>
          <p:cNvSpPr/>
          <p:nvPr/>
        </p:nvSpPr>
        <p:spPr>
          <a:xfrm>
            <a:off x="4470425" y="2511921"/>
            <a:ext cx="200754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Demo Introduction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2" name="Google Shape;392;p49"/>
          <p:cNvSpPr/>
          <p:nvPr/>
        </p:nvSpPr>
        <p:spPr>
          <a:xfrm>
            <a:off x="4470425" y="2845594"/>
            <a:ext cx="4133552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Hands-on demonstration of the YOLO algorithm in action.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3" name="Google Shape;393;p49"/>
          <p:cNvSpPr/>
          <p:nvPr/>
        </p:nvSpPr>
        <p:spPr>
          <a:xfrm>
            <a:off x="3969023" y="3420294"/>
            <a:ext cx="347142" cy="347142"/>
          </a:xfrm>
          <a:prstGeom prst="roundRect">
            <a:avLst>
              <a:gd fmla="val 18669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9"/>
          <p:cNvSpPr/>
          <p:nvPr/>
        </p:nvSpPr>
        <p:spPr>
          <a:xfrm>
            <a:off x="4070375" y="3478113"/>
            <a:ext cx="144438" cy="23142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Syne"/>
              <a:buNone/>
            </a:pPr>
            <a:r>
              <a:rPr b="1" lang="en-GB" sz="18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2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5" name="Google Shape;395;p49"/>
          <p:cNvSpPr/>
          <p:nvPr/>
        </p:nvSpPr>
        <p:spPr>
          <a:xfrm>
            <a:off x="4470425" y="3420294"/>
            <a:ext cx="192881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Required Tools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6" name="Google Shape;396;p49"/>
          <p:cNvSpPr/>
          <p:nvPr/>
        </p:nvSpPr>
        <p:spPr>
          <a:xfrm>
            <a:off x="4470425" y="3753966"/>
            <a:ext cx="4133552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Python, OpenCV, YOLO weights and configuration files.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4" name="Google Shape;40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5" name="Google Shape;40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881" y="1557338"/>
            <a:ext cx="3043238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0"/>
          <p:cNvSpPr/>
          <p:nvPr/>
        </p:nvSpPr>
        <p:spPr>
          <a:xfrm>
            <a:off x="3969023" y="931589"/>
            <a:ext cx="4634954" cy="9644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3000"/>
              <a:buFont typeface="Syne"/>
              <a:buNone/>
            </a:pPr>
            <a:r>
              <a:rPr b="1" lang="en-GB" sz="3000" u="sng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Setting Up the Environment</a:t>
            </a:r>
            <a:endParaRPr sz="30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7" name="Google Shape;407;p50"/>
          <p:cNvSpPr/>
          <p:nvPr/>
        </p:nvSpPr>
        <p:spPr>
          <a:xfrm>
            <a:off x="3969023" y="2127424"/>
            <a:ext cx="4634954" cy="2084487"/>
          </a:xfrm>
          <a:prstGeom prst="roundRect">
            <a:avLst>
              <a:gd fmla="val 3109" name="adj"/>
            </a:avLst>
          </a:prstGeom>
          <a:noFill/>
          <a:ln cap="flat" cmpd="sng" w="152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0"/>
          <p:cNvSpPr/>
          <p:nvPr/>
        </p:nvSpPr>
        <p:spPr>
          <a:xfrm>
            <a:off x="3978548" y="2136949"/>
            <a:ext cx="4615904" cy="68847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0"/>
          <p:cNvSpPr/>
          <p:nvPr/>
        </p:nvSpPr>
        <p:spPr>
          <a:xfrm>
            <a:off x="4132808" y="2234282"/>
            <a:ext cx="1997050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Install Libraries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0" name="Google Shape;410;p50"/>
          <p:cNvSpPr/>
          <p:nvPr/>
        </p:nvSpPr>
        <p:spPr>
          <a:xfrm>
            <a:off x="6443142" y="2234282"/>
            <a:ext cx="1997050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pip install opencv-python numpy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1" name="Google Shape;411;p50"/>
          <p:cNvSpPr/>
          <p:nvPr/>
        </p:nvSpPr>
        <p:spPr>
          <a:xfrm>
            <a:off x="3978548" y="2825427"/>
            <a:ext cx="4615904" cy="44157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0"/>
          <p:cNvSpPr/>
          <p:nvPr/>
        </p:nvSpPr>
        <p:spPr>
          <a:xfrm>
            <a:off x="4132808" y="2922761"/>
            <a:ext cx="1997050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Download YOLO Files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3" name="Google Shape;413;p50"/>
          <p:cNvSpPr/>
          <p:nvPr/>
        </p:nvSpPr>
        <p:spPr>
          <a:xfrm>
            <a:off x="6443142" y="2922761"/>
            <a:ext cx="1997050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yolov3.weights, yolov3.cfg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4" name="Google Shape;414;p50"/>
          <p:cNvSpPr/>
          <p:nvPr/>
        </p:nvSpPr>
        <p:spPr>
          <a:xfrm>
            <a:off x="3978548" y="3267001"/>
            <a:ext cx="4615904" cy="935385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0"/>
          <p:cNvSpPr/>
          <p:nvPr/>
        </p:nvSpPr>
        <p:spPr>
          <a:xfrm>
            <a:off x="4132808" y="3364334"/>
            <a:ext cx="1997050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Load the Model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6" name="Google Shape;416;p50"/>
          <p:cNvSpPr/>
          <p:nvPr/>
        </p:nvSpPr>
        <p:spPr>
          <a:xfrm>
            <a:off x="6443142" y="3364334"/>
            <a:ext cx="1997050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net = cv2.dnn.readNet("yolov3.weights", "yolov3.cfg")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4" name="Google Shape;42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7881" y="972815"/>
            <a:ext cx="3043163" cy="319787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1"/>
          <p:cNvSpPr/>
          <p:nvPr/>
        </p:nvSpPr>
        <p:spPr>
          <a:xfrm>
            <a:off x="540023" y="1136749"/>
            <a:ext cx="4357613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3000"/>
              <a:buFont typeface="Syne"/>
              <a:buNone/>
            </a:pPr>
            <a:r>
              <a:rPr b="1" lang="en-GB" sz="3000" u="sng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Conclusion and Q&amp;A</a:t>
            </a:r>
            <a:endParaRPr sz="30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7" name="Google Shape;427;p51"/>
          <p:cNvSpPr/>
          <p:nvPr/>
        </p:nvSpPr>
        <p:spPr>
          <a:xfrm>
            <a:off x="540023" y="2023914"/>
            <a:ext cx="347142" cy="347142"/>
          </a:xfrm>
          <a:prstGeom prst="roundRect">
            <a:avLst>
              <a:gd fmla="val 18669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1"/>
          <p:cNvSpPr/>
          <p:nvPr/>
        </p:nvSpPr>
        <p:spPr>
          <a:xfrm>
            <a:off x="668461" y="2081733"/>
            <a:ext cx="90264" cy="23142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Syne"/>
              <a:buNone/>
            </a:pPr>
            <a:r>
              <a:rPr b="1" lang="en-GB" sz="18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1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51"/>
          <p:cNvSpPr/>
          <p:nvPr/>
        </p:nvSpPr>
        <p:spPr>
          <a:xfrm>
            <a:off x="1041425" y="2023914"/>
            <a:ext cx="192881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Summary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0" name="Google Shape;430;p51"/>
          <p:cNvSpPr/>
          <p:nvPr/>
        </p:nvSpPr>
        <p:spPr>
          <a:xfrm>
            <a:off x="1041425" y="2357586"/>
            <a:ext cx="4133553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YOLO is a powerful real-time object detection system with high speed and accuracy.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1" name="Google Shape;431;p51"/>
          <p:cNvSpPr/>
          <p:nvPr/>
        </p:nvSpPr>
        <p:spPr>
          <a:xfrm>
            <a:off x="540023" y="3179192"/>
            <a:ext cx="347142" cy="347142"/>
          </a:xfrm>
          <a:prstGeom prst="roundRect">
            <a:avLst>
              <a:gd fmla="val 18669" name="adj"/>
            </a:avLst>
          </a:prstGeom>
          <a:solidFill>
            <a:srgbClr val="DDEEE6"/>
          </a:solidFill>
          <a:ln cap="flat" cmpd="sng" w="152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1"/>
          <p:cNvSpPr/>
          <p:nvPr/>
        </p:nvSpPr>
        <p:spPr>
          <a:xfrm>
            <a:off x="641375" y="3237012"/>
            <a:ext cx="144438" cy="231428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Syne"/>
              <a:buNone/>
            </a:pPr>
            <a:r>
              <a:rPr b="1" lang="en-GB" sz="18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2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3" name="Google Shape;433;p51"/>
          <p:cNvSpPr/>
          <p:nvPr/>
        </p:nvSpPr>
        <p:spPr>
          <a:xfrm>
            <a:off x="1041425" y="3179192"/>
            <a:ext cx="192881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2502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500"/>
              <a:buFont typeface="Syne"/>
              <a:buNone/>
            </a:pPr>
            <a:r>
              <a:rPr b="1" lang="en-GB" sz="1500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Next Steps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4" name="Google Shape;434;p51"/>
          <p:cNvSpPr/>
          <p:nvPr/>
        </p:nvSpPr>
        <p:spPr>
          <a:xfrm>
            <a:off x="1041425" y="3512864"/>
            <a:ext cx="4133553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59979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200"/>
              <a:buFont typeface="Overpass"/>
              <a:buNone/>
            </a:pPr>
            <a:r>
              <a:rPr lang="en-GB" sz="1200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Exploring the code further and experiment with YOLO for the projects.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