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48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069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220504" y="2222778"/>
            <a:ext cx="5045393" cy="3784044"/>
          </a:xfrm>
          <a:prstGeom prst="rect">
            <a:avLst/>
          </a:prstGeom>
        </p:spPr>
      </p:pic>
      <p:sp>
        <p:nvSpPr>
          <p:cNvPr id="6" name="Text 1"/>
          <p:cNvSpPr/>
          <p:nvPr/>
        </p:nvSpPr>
        <p:spPr>
          <a:xfrm>
            <a:off x="6103977" y="1566148"/>
            <a:ext cx="7908846" cy="3196114"/>
          </a:xfrm>
          <a:prstGeom prst="rect">
            <a:avLst/>
          </a:prstGeom>
          <a:noFill/>
          <a:ln/>
        </p:spPr>
        <p:txBody>
          <a:bodyPr wrap="square" rtlCol="0" anchor="t"/>
          <a:lstStyle/>
          <a:p>
            <a:pPr marL="0" indent="0">
              <a:lnSpc>
                <a:spcPts val="6292"/>
              </a:lnSpc>
              <a:buNone/>
            </a:pPr>
            <a:r>
              <a:rPr lang="en-US" sz="5033" b="1" u="sng" dirty="0">
                <a:solidFill>
                  <a:srgbClr val="000000"/>
                </a:solidFill>
                <a:latin typeface="Petrona" pitchFamily="34" charset="0"/>
                <a:ea typeface="Petrona" pitchFamily="34" charset="-122"/>
                <a:cs typeface="Petrona" pitchFamily="34" charset="-120"/>
              </a:rPr>
              <a:t>Image Classification on CIFAR-10 Dataset using Convolutional Neural Networks</a:t>
            </a:r>
            <a:endParaRPr lang="en-US" sz="5033" u="sng" dirty="0"/>
          </a:p>
        </p:txBody>
      </p:sp>
      <p:sp>
        <p:nvSpPr>
          <p:cNvPr id="7" name="Text 2"/>
          <p:cNvSpPr/>
          <p:nvPr/>
        </p:nvSpPr>
        <p:spPr>
          <a:xfrm>
            <a:off x="6103977" y="5026938"/>
            <a:ext cx="7908846" cy="1129189"/>
          </a:xfrm>
          <a:prstGeom prst="rect">
            <a:avLst/>
          </a:prstGeom>
          <a:noFill/>
          <a:ln/>
        </p:spPr>
        <p:txBody>
          <a:bodyPr wrap="square" rtlCol="0" anchor="t"/>
          <a:lstStyle/>
          <a:p>
            <a:pPr marL="0" indent="0">
              <a:lnSpc>
                <a:spcPts val="2223"/>
              </a:lnSpc>
              <a:buNone/>
            </a:pPr>
            <a:r>
              <a:rPr lang="en-US" sz="1389" dirty="0">
                <a:solidFill>
                  <a:srgbClr val="272525"/>
                </a:solidFill>
                <a:latin typeface="Inter" pitchFamily="34" charset="0"/>
                <a:ea typeface="Inter" pitchFamily="34" charset="-122"/>
                <a:cs typeface="Inter" pitchFamily="34" charset="-120"/>
              </a:rPr>
              <a:t>This detailed project presentation explores the use of Convolutional Neural Networks (CNNs) to classify images from the CIFAR-10 dataset, a widely used benchmark in computer vision. The project aims to showcase the power of deep learning techniques in accurately identifying objects within low-resolution images.</a:t>
            </a:r>
            <a:endParaRPr lang="en-US" sz="1389" dirty="0"/>
          </a:p>
        </p:txBody>
      </p:sp>
      <p:sp>
        <p:nvSpPr>
          <p:cNvPr id="8" name="Shape 3"/>
          <p:cNvSpPr/>
          <p:nvPr/>
        </p:nvSpPr>
        <p:spPr>
          <a:xfrm>
            <a:off x="6103977" y="6367820"/>
            <a:ext cx="282297" cy="282297"/>
          </a:xfrm>
          <a:prstGeom prst="roundRect">
            <a:avLst>
              <a:gd name="adj" fmla="val 32388178"/>
            </a:avLst>
          </a:prstGeom>
          <a:noFill/>
          <a:ln w="7620">
            <a:solidFill>
              <a:srgbClr val="FFFFFF"/>
            </a:solidFill>
            <a:prstDash val="solid"/>
          </a:ln>
        </p:spPr>
      </p:sp>
      <p:pic>
        <p:nvPicPr>
          <p:cNvPr id="9" name="Image 3" descr="preencoded.png"/>
          <p:cNvPicPr>
            <a:picLocks noChangeAspect="1"/>
          </p:cNvPicPr>
          <p:nvPr/>
        </p:nvPicPr>
        <p:blipFill>
          <a:blip r:embed="rId6"/>
          <a:stretch>
            <a:fillRect/>
          </a:stretch>
        </p:blipFill>
        <p:spPr>
          <a:xfrm>
            <a:off x="6111597" y="6375440"/>
            <a:ext cx="267057" cy="267057"/>
          </a:xfrm>
          <a:prstGeom prst="rect">
            <a:avLst/>
          </a:prstGeom>
        </p:spPr>
      </p:pic>
      <p:sp>
        <p:nvSpPr>
          <p:cNvPr id="10" name="Text 4"/>
          <p:cNvSpPr/>
          <p:nvPr/>
        </p:nvSpPr>
        <p:spPr>
          <a:xfrm>
            <a:off x="6474500" y="6354604"/>
            <a:ext cx="2064901" cy="308848"/>
          </a:xfrm>
          <a:prstGeom prst="rect">
            <a:avLst/>
          </a:prstGeom>
          <a:noFill/>
          <a:ln/>
        </p:spPr>
        <p:txBody>
          <a:bodyPr wrap="none" rtlCol="0" anchor="t"/>
          <a:lstStyle/>
          <a:p>
            <a:pPr marL="0" indent="0" algn="l">
              <a:lnSpc>
                <a:spcPts val="2432"/>
              </a:lnSpc>
              <a:buNone/>
            </a:pPr>
            <a:r>
              <a:rPr lang="en-US" sz="1737" b="1" dirty="0">
                <a:solidFill>
                  <a:srgbClr val="272525"/>
                </a:solidFill>
                <a:latin typeface="Inter" pitchFamily="34" charset="0"/>
                <a:ea typeface="Inter" pitchFamily="34" charset="-122"/>
                <a:cs typeface="Inter" pitchFamily="34" charset="-120"/>
              </a:rPr>
              <a:t>by Priya Srivastava</a:t>
            </a:r>
            <a:endParaRPr lang="en-US" sz="173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9452729" y="2522220"/>
            <a:ext cx="4868942" cy="3185160"/>
          </a:xfrm>
          <a:prstGeom prst="rect">
            <a:avLst/>
          </a:prstGeom>
        </p:spPr>
      </p:pic>
      <p:sp>
        <p:nvSpPr>
          <p:cNvPr id="6" name="Text 1"/>
          <p:cNvSpPr/>
          <p:nvPr/>
        </p:nvSpPr>
        <p:spPr>
          <a:xfrm>
            <a:off x="864037" y="1944410"/>
            <a:ext cx="6480810" cy="809982"/>
          </a:xfrm>
          <a:prstGeom prst="rect">
            <a:avLst/>
          </a:prstGeom>
          <a:noFill/>
          <a:ln/>
        </p:spPr>
        <p:txBody>
          <a:bodyPr wrap="none" rtlCol="0" anchor="t"/>
          <a:lstStyle/>
          <a:p>
            <a:pPr marL="0" indent="0">
              <a:lnSpc>
                <a:spcPts val="6379"/>
              </a:lnSpc>
              <a:buNone/>
            </a:pPr>
            <a:r>
              <a:rPr lang="en-US" sz="5103" b="1" u="sng" dirty="0">
                <a:solidFill>
                  <a:srgbClr val="000000"/>
                </a:solidFill>
                <a:latin typeface="Petrona" pitchFamily="34" charset="0"/>
                <a:ea typeface="Petrona" pitchFamily="34" charset="-122"/>
                <a:cs typeface="Petrona" pitchFamily="34" charset="-120"/>
              </a:rPr>
              <a:t>Abstract</a:t>
            </a:r>
            <a:endParaRPr lang="en-US" sz="5103" u="sng" dirty="0"/>
          </a:p>
        </p:txBody>
      </p:sp>
      <p:sp>
        <p:nvSpPr>
          <p:cNvPr id="7" name="Text 2"/>
          <p:cNvSpPr/>
          <p:nvPr/>
        </p:nvSpPr>
        <p:spPr>
          <a:xfrm>
            <a:off x="864037" y="3124676"/>
            <a:ext cx="7415927" cy="3160395"/>
          </a:xfrm>
          <a:prstGeom prst="rect">
            <a:avLst/>
          </a:prstGeom>
          <a:noFill/>
          <a:ln/>
        </p:spPr>
        <p:txBody>
          <a:bodyPr wrap="square" rtlCol="0" anchor="t"/>
          <a:lstStyle/>
          <a:p>
            <a:pPr marL="0" indent="0">
              <a:lnSpc>
                <a:spcPts val="3110"/>
              </a:lnSpc>
              <a:buNone/>
            </a:pPr>
            <a:r>
              <a:rPr lang="en-US" sz="1944" dirty="0">
                <a:solidFill>
                  <a:srgbClr val="272525"/>
                </a:solidFill>
                <a:latin typeface="Inter" pitchFamily="34" charset="0"/>
                <a:ea typeface="Inter" pitchFamily="34" charset="-122"/>
                <a:cs typeface="Inter" pitchFamily="34" charset="-120"/>
              </a:rPr>
              <a:t>The primary objective of this project is to classify the CIFAR-10 dataset of 32x32 color images into 10 distinct categories, including airplanes, automobiles, birds, cats, deer, dogs, frogs, horses, ships, and trucks. By leveraging the capabilities of CNNs, the project demonstrates the importance of image classification in the field of artificial intelligence and the significance of the outcomes in advancing computer vision applications.</a:t>
            </a:r>
            <a:endParaRPr lang="en-US" sz="194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2815"/>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14630400" cy="2931319"/>
          </a:xfrm>
          <a:prstGeom prst="rect">
            <a:avLst/>
          </a:prstGeom>
        </p:spPr>
      </p:pic>
      <p:sp>
        <p:nvSpPr>
          <p:cNvPr id="5" name="Text 1"/>
          <p:cNvSpPr/>
          <p:nvPr/>
        </p:nvSpPr>
        <p:spPr>
          <a:xfrm>
            <a:off x="910114" y="3576161"/>
            <a:ext cx="6155888" cy="769382"/>
          </a:xfrm>
          <a:prstGeom prst="rect">
            <a:avLst/>
          </a:prstGeom>
          <a:noFill/>
          <a:ln/>
        </p:spPr>
        <p:txBody>
          <a:bodyPr wrap="none" rtlCol="0" anchor="t"/>
          <a:lstStyle/>
          <a:p>
            <a:pPr marL="0" indent="0">
              <a:lnSpc>
                <a:spcPts val="6059"/>
              </a:lnSpc>
              <a:buNone/>
            </a:pPr>
            <a:r>
              <a:rPr lang="en-US" sz="4847" b="1" u="sng" dirty="0">
                <a:solidFill>
                  <a:srgbClr val="000000"/>
                </a:solidFill>
                <a:latin typeface="Petrona" pitchFamily="34" charset="0"/>
                <a:ea typeface="Petrona" pitchFamily="34" charset="-122"/>
                <a:cs typeface="Petrona" pitchFamily="34" charset="-120"/>
              </a:rPr>
              <a:t>Introduction</a:t>
            </a:r>
            <a:endParaRPr lang="en-US" sz="4847" u="sng" dirty="0"/>
          </a:p>
        </p:txBody>
      </p:sp>
      <p:sp>
        <p:nvSpPr>
          <p:cNvPr id="6" name="Text 2"/>
          <p:cNvSpPr/>
          <p:nvPr/>
        </p:nvSpPr>
        <p:spPr>
          <a:xfrm>
            <a:off x="910114" y="4697254"/>
            <a:ext cx="12810053" cy="1501140"/>
          </a:xfrm>
          <a:prstGeom prst="rect">
            <a:avLst/>
          </a:prstGeom>
          <a:noFill/>
          <a:ln/>
        </p:spPr>
        <p:txBody>
          <a:bodyPr wrap="square" rtlCol="0" anchor="t"/>
          <a:lstStyle/>
          <a:p>
            <a:pPr marL="0" indent="0">
              <a:lnSpc>
                <a:spcPts val="2954"/>
              </a:lnSpc>
              <a:buNone/>
            </a:pPr>
            <a:r>
              <a:rPr lang="en-US" sz="1847" dirty="0">
                <a:solidFill>
                  <a:srgbClr val="272525"/>
                </a:solidFill>
                <a:latin typeface="Inter" pitchFamily="34" charset="0"/>
                <a:ea typeface="Inter" pitchFamily="34" charset="-122"/>
                <a:cs typeface="Inter" pitchFamily="34" charset="-120"/>
              </a:rPr>
              <a:t>Image classification is a fundamental task in artificial intelligence, with numerous applications in areas such as autonomous vehicles, medical diagnosis, and surveillance. Convolutional Neural Networks (CNNs) have emerged as a powerful tool for tackling this challenge, thanks to their ability to automatically learn and extract relevant features from image data.</a:t>
            </a:r>
            <a:endParaRPr lang="en-US" sz="1847" dirty="0"/>
          </a:p>
        </p:txBody>
      </p:sp>
      <p:sp>
        <p:nvSpPr>
          <p:cNvPr id="7" name="Text 3"/>
          <p:cNvSpPr/>
          <p:nvPr/>
        </p:nvSpPr>
        <p:spPr>
          <a:xfrm>
            <a:off x="910114" y="6462117"/>
            <a:ext cx="12810053" cy="1125855"/>
          </a:xfrm>
          <a:prstGeom prst="rect">
            <a:avLst/>
          </a:prstGeom>
          <a:noFill/>
          <a:ln/>
        </p:spPr>
        <p:txBody>
          <a:bodyPr wrap="square" rtlCol="0" anchor="t"/>
          <a:lstStyle/>
          <a:p>
            <a:pPr marL="0" indent="0">
              <a:lnSpc>
                <a:spcPts val="2954"/>
              </a:lnSpc>
              <a:buNone/>
            </a:pPr>
            <a:r>
              <a:rPr lang="en-US" sz="1847" dirty="0">
                <a:solidFill>
                  <a:srgbClr val="272525"/>
                </a:solidFill>
                <a:latin typeface="Inter" pitchFamily="34" charset="0"/>
                <a:ea typeface="Inter" pitchFamily="34" charset="-122"/>
                <a:cs typeface="Inter" pitchFamily="34" charset="-120"/>
              </a:rPr>
              <a:t>The CIFAR-10 dataset, a widely used benchmark in computer vision, provides a suitable platform to explore the capabilities of CNNs in image classification. This dataset consists of 60,000 low-resolution (32x32) color images, divided into 10 distinct classes, making it an intriguing and challenging task for deep learning models.</a:t>
            </a:r>
            <a:endParaRPr lang="en-US" sz="184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864037" y="1383983"/>
            <a:ext cx="6480810" cy="809982"/>
          </a:xfrm>
          <a:prstGeom prst="rect">
            <a:avLst/>
          </a:prstGeom>
          <a:noFill/>
          <a:ln/>
        </p:spPr>
        <p:txBody>
          <a:bodyPr wrap="none" rtlCol="0" anchor="t"/>
          <a:lstStyle/>
          <a:p>
            <a:pPr marL="0" indent="0">
              <a:lnSpc>
                <a:spcPts val="6379"/>
              </a:lnSpc>
              <a:buNone/>
            </a:pPr>
            <a:r>
              <a:rPr lang="en-US" sz="5103" b="1" u="sng" dirty="0">
                <a:solidFill>
                  <a:srgbClr val="000000"/>
                </a:solidFill>
                <a:latin typeface="Petrona" pitchFamily="34" charset="0"/>
                <a:ea typeface="Petrona" pitchFamily="34" charset="-122"/>
                <a:cs typeface="Petrona" pitchFamily="34" charset="-120"/>
              </a:rPr>
              <a:t>Technology Used</a:t>
            </a:r>
            <a:endParaRPr lang="en-US" sz="5103" u="sng" dirty="0"/>
          </a:p>
        </p:txBody>
      </p:sp>
      <p:sp>
        <p:nvSpPr>
          <p:cNvPr id="5" name="Text 2"/>
          <p:cNvSpPr/>
          <p:nvPr/>
        </p:nvSpPr>
        <p:spPr>
          <a:xfrm>
            <a:off x="864037" y="2811066"/>
            <a:ext cx="3240405" cy="405051"/>
          </a:xfrm>
          <a:prstGeom prst="rect">
            <a:avLst/>
          </a:prstGeom>
          <a:noFill/>
          <a:ln/>
        </p:spPr>
        <p:txBody>
          <a:bodyPr wrap="none" rtlCol="0" anchor="t"/>
          <a:lstStyle/>
          <a:p>
            <a:pPr marL="0" indent="0">
              <a:lnSpc>
                <a:spcPts val="3189"/>
              </a:lnSpc>
              <a:buNone/>
            </a:pPr>
            <a:r>
              <a:rPr lang="en-US" sz="2552" b="1" dirty="0">
                <a:solidFill>
                  <a:srgbClr val="000000"/>
                </a:solidFill>
                <a:latin typeface="Petrona" pitchFamily="34" charset="0"/>
                <a:ea typeface="Petrona" pitchFamily="34" charset="-122"/>
                <a:cs typeface="Petrona" pitchFamily="34" charset="-120"/>
              </a:rPr>
              <a:t>Python</a:t>
            </a:r>
            <a:endParaRPr lang="en-US" sz="2552" dirty="0"/>
          </a:p>
        </p:txBody>
      </p:sp>
      <p:sp>
        <p:nvSpPr>
          <p:cNvPr id="6" name="Text 3"/>
          <p:cNvSpPr/>
          <p:nvPr/>
        </p:nvSpPr>
        <p:spPr>
          <a:xfrm>
            <a:off x="864037" y="3462933"/>
            <a:ext cx="3898821" cy="3160395"/>
          </a:xfrm>
          <a:prstGeom prst="rect">
            <a:avLst/>
          </a:prstGeom>
          <a:noFill/>
          <a:ln/>
        </p:spPr>
        <p:txBody>
          <a:bodyPr wrap="square" rtlCol="0" anchor="t"/>
          <a:lstStyle/>
          <a:p>
            <a:pPr marL="0" indent="0">
              <a:lnSpc>
                <a:spcPts val="3110"/>
              </a:lnSpc>
              <a:buNone/>
            </a:pPr>
            <a:r>
              <a:rPr lang="en-US" sz="1944" dirty="0">
                <a:solidFill>
                  <a:srgbClr val="272525"/>
                </a:solidFill>
                <a:latin typeface="Inter" pitchFamily="34" charset="0"/>
                <a:ea typeface="Inter" pitchFamily="34" charset="-122"/>
                <a:cs typeface="Inter" pitchFamily="34" charset="-120"/>
              </a:rPr>
              <a:t>Python's versatility and extensive ecosystem of libraries and frameworks make it a natural choice for this project. Its ease of use and powerful data manipulation capabilities allow for efficient development and experimentation.</a:t>
            </a:r>
            <a:endParaRPr lang="en-US" sz="1944" dirty="0"/>
          </a:p>
        </p:txBody>
      </p:sp>
      <p:sp>
        <p:nvSpPr>
          <p:cNvPr id="7" name="Text 4"/>
          <p:cNvSpPr/>
          <p:nvPr/>
        </p:nvSpPr>
        <p:spPr>
          <a:xfrm>
            <a:off x="5372695" y="2811066"/>
            <a:ext cx="3240405" cy="405051"/>
          </a:xfrm>
          <a:prstGeom prst="rect">
            <a:avLst/>
          </a:prstGeom>
          <a:noFill/>
          <a:ln/>
        </p:spPr>
        <p:txBody>
          <a:bodyPr wrap="none" rtlCol="0" anchor="t"/>
          <a:lstStyle/>
          <a:p>
            <a:pPr marL="0" indent="0">
              <a:lnSpc>
                <a:spcPts val="3189"/>
              </a:lnSpc>
              <a:buNone/>
            </a:pPr>
            <a:r>
              <a:rPr lang="en-US" sz="2552" b="1" dirty="0">
                <a:solidFill>
                  <a:srgbClr val="000000"/>
                </a:solidFill>
                <a:latin typeface="Petrona" pitchFamily="34" charset="0"/>
                <a:ea typeface="Petrona" pitchFamily="34" charset="-122"/>
                <a:cs typeface="Petrona" pitchFamily="34" charset="-120"/>
              </a:rPr>
              <a:t>TensorFlow &amp; Keras</a:t>
            </a:r>
            <a:endParaRPr lang="en-US" sz="2552" dirty="0"/>
          </a:p>
        </p:txBody>
      </p:sp>
      <p:sp>
        <p:nvSpPr>
          <p:cNvPr id="8" name="Text 5"/>
          <p:cNvSpPr/>
          <p:nvPr/>
        </p:nvSpPr>
        <p:spPr>
          <a:xfrm>
            <a:off x="5372695" y="3462933"/>
            <a:ext cx="3898821" cy="2765346"/>
          </a:xfrm>
          <a:prstGeom prst="rect">
            <a:avLst/>
          </a:prstGeom>
          <a:noFill/>
          <a:ln/>
        </p:spPr>
        <p:txBody>
          <a:bodyPr wrap="square" rtlCol="0" anchor="t"/>
          <a:lstStyle/>
          <a:p>
            <a:pPr marL="0" indent="0">
              <a:lnSpc>
                <a:spcPts val="3110"/>
              </a:lnSpc>
              <a:buNone/>
            </a:pPr>
            <a:r>
              <a:rPr lang="en-US" sz="1944" dirty="0">
                <a:solidFill>
                  <a:srgbClr val="272525"/>
                </a:solidFill>
                <a:latin typeface="Inter" pitchFamily="34" charset="0"/>
                <a:ea typeface="Inter" pitchFamily="34" charset="-122"/>
                <a:cs typeface="Inter" pitchFamily="34" charset="-120"/>
              </a:rPr>
              <a:t>These popular deep learning frameworks provide a robust and user-friendly interface for building, training, and evaluating neural network models, including the CNN architecture used in this project.</a:t>
            </a:r>
            <a:endParaRPr lang="en-US" sz="1944" dirty="0"/>
          </a:p>
        </p:txBody>
      </p:sp>
      <p:sp>
        <p:nvSpPr>
          <p:cNvPr id="9" name="Text 6"/>
          <p:cNvSpPr/>
          <p:nvPr/>
        </p:nvSpPr>
        <p:spPr>
          <a:xfrm>
            <a:off x="9881354" y="2811066"/>
            <a:ext cx="3240405" cy="405051"/>
          </a:xfrm>
          <a:prstGeom prst="rect">
            <a:avLst/>
          </a:prstGeom>
          <a:noFill/>
          <a:ln/>
        </p:spPr>
        <p:txBody>
          <a:bodyPr wrap="none" rtlCol="0" anchor="t"/>
          <a:lstStyle/>
          <a:p>
            <a:pPr marL="0" indent="0">
              <a:lnSpc>
                <a:spcPts val="3189"/>
              </a:lnSpc>
              <a:buNone/>
            </a:pPr>
            <a:r>
              <a:rPr lang="en-US" sz="2552" b="1" dirty="0">
                <a:solidFill>
                  <a:srgbClr val="000000"/>
                </a:solidFill>
                <a:latin typeface="Petrona" pitchFamily="34" charset="0"/>
                <a:ea typeface="Petrona" pitchFamily="34" charset="-122"/>
                <a:cs typeface="Petrona" pitchFamily="34" charset="-120"/>
              </a:rPr>
              <a:t>NumPy &amp; Matplotlib</a:t>
            </a:r>
            <a:endParaRPr lang="en-US" sz="2552" dirty="0"/>
          </a:p>
        </p:txBody>
      </p:sp>
      <p:sp>
        <p:nvSpPr>
          <p:cNvPr id="10" name="Text 7"/>
          <p:cNvSpPr/>
          <p:nvPr/>
        </p:nvSpPr>
        <p:spPr>
          <a:xfrm>
            <a:off x="9881354" y="3462933"/>
            <a:ext cx="3898821" cy="3160395"/>
          </a:xfrm>
          <a:prstGeom prst="rect">
            <a:avLst/>
          </a:prstGeom>
          <a:noFill/>
          <a:ln/>
        </p:spPr>
        <p:txBody>
          <a:bodyPr wrap="square" rtlCol="0" anchor="t"/>
          <a:lstStyle/>
          <a:p>
            <a:pPr marL="0" indent="0">
              <a:lnSpc>
                <a:spcPts val="3110"/>
              </a:lnSpc>
              <a:buNone/>
            </a:pPr>
            <a:r>
              <a:rPr lang="en-US" sz="1944" dirty="0">
                <a:solidFill>
                  <a:srgbClr val="272525"/>
                </a:solidFill>
                <a:latin typeface="Inter" pitchFamily="34" charset="0"/>
                <a:ea typeface="Inter" pitchFamily="34" charset="-122"/>
                <a:cs typeface="Inter" pitchFamily="34" charset="-120"/>
              </a:rPr>
              <a:t>NumPy, the fundamental library for scientific computing in Python, is used for efficient numerical operations and data manipulation. Matplotlib, a data visualization library, is employed to plot the training and validation curves.</a:t>
            </a:r>
            <a:endParaRPr lang="en-US" sz="19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285512" y="2474238"/>
            <a:ext cx="4915257" cy="3281005"/>
          </a:xfrm>
          <a:prstGeom prst="rect">
            <a:avLst/>
          </a:prstGeom>
        </p:spPr>
      </p:pic>
      <p:sp>
        <p:nvSpPr>
          <p:cNvPr id="6" name="Text 1"/>
          <p:cNvSpPr/>
          <p:nvPr/>
        </p:nvSpPr>
        <p:spPr>
          <a:xfrm>
            <a:off x="6286024" y="642699"/>
            <a:ext cx="5997654" cy="749617"/>
          </a:xfrm>
          <a:prstGeom prst="rect">
            <a:avLst/>
          </a:prstGeom>
          <a:noFill/>
          <a:ln/>
        </p:spPr>
        <p:txBody>
          <a:bodyPr wrap="none" rtlCol="0" anchor="t"/>
          <a:lstStyle/>
          <a:p>
            <a:pPr marL="0" indent="0">
              <a:lnSpc>
                <a:spcPts val="5903"/>
              </a:lnSpc>
              <a:buNone/>
            </a:pPr>
            <a:r>
              <a:rPr lang="en-US" sz="4723" b="1" u="sng" dirty="0">
                <a:solidFill>
                  <a:srgbClr val="000000"/>
                </a:solidFill>
                <a:latin typeface="Petrona" pitchFamily="34" charset="0"/>
                <a:ea typeface="Petrona" pitchFamily="34" charset="-122"/>
                <a:cs typeface="Petrona" pitchFamily="34" charset="-120"/>
              </a:rPr>
              <a:t>Dataset Information</a:t>
            </a:r>
            <a:endParaRPr lang="en-US" sz="4723" u="sng" dirty="0"/>
          </a:p>
        </p:txBody>
      </p:sp>
      <p:sp>
        <p:nvSpPr>
          <p:cNvPr id="7" name="Shape 2"/>
          <p:cNvSpPr/>
          <p:nvPr/>
        </p:nvSpPr>
        <p:spPr>
          <a:xfrm>
            <a:off x="6286024" y="1734979"/>
            <a:ext cx="7544752" cy="3177183"/>
          </a:xfrm>
          <a:prstGeom prst="roundRect">
            <a:avLst>
              <a:gd name="adj" fmla="val 3020"/>
            </a:avLst>
          </a:prstGeom>
          <a:solidFill>
            <a:srgbClr val="CCEEFF"/>
          </a:solidFill>
          <a:ln w="7620">
            <a:solidFill>
              <a:srgbClr val="B2D4E5"/>
            </a:solidFill>
            <a:prstDash val="solid"/>
          </a:ln>
        </p:spPr>
      </p:sp>
      <p:sp>
        <p:nvSpPr>
          <p:cNvPr id="8" name="Text 3"/>
          <p:cNvSpPr/>
          <p:nvPr/>
        </p:nvSpPr>
        <p:spPr>
          <a:xfrm>
            <a:off x="6522125" y="1971080"/>
            <a:ext cx="2998827" cy="374809"/>
          </a:xfrm>
          <a:prstGeom prst="rect">
            <a:avLst/>
          </a:prstGeom>
          <a:noFill/>
          <a:ln/>
        </p:spPr>
        <p:txBody>
          <a:bodyPr wrap="none" rtlCol="0" anchor="t"/>
          <a:lstStyle/>
          <a:p>
            <a:pPr marL="0" indent="0">
              <a:lnSpc>
                <a:spcPts val="2952"/>
              </a:lnSpc>
              <a:buNone/>
            </a:pPr>
            <a:r>
              <a:rPr lang="en-US" sz="2361" b="1" dirty="0">
                <a:solidFill>
                  <a:srgbClr val="272525"/>
                </a:solidFill>
                <a:latin typeface="Petrona" pitchFamily="34" charset="0"/>
                <a:ea typeface="Petrona" pitchFamily="34" charset="-122"/>
                <a:cs typeface="Petrona" pitchFamily="34" charset="-120"/>
              </a:rPr>
              <a:t>CIFAR-10 Dataset</a:t>
            </a:r>
            <a:endParaRPr lang="en-US" sz="2361" dirty="0"/>
          </a:p>
        </p:txBody>
      </p:sp>
      <p:sp>
        <p:nvSpPr>
          <p:cNvPr id="9" name="Text 4"/>
          <p:cNvSpPr/>
          <p:nvPr/>
        </p:nvSpPr>
        <p:spPr>
          <a:xfrm>
            <a:off x="6522125" y="2482929"/>
            <a:ext cx="7072551" cy="2193131"/>
          </a:xfrm>
          <a:prstGeom prst="rect">
            <a:avLst/>
          </a:prstGeom>
          <a:noFill/>
          <a:ln/>
        </p:spPr>
        <p:txBody>
          <a:bodyPr wrap="square" rtlCol="0" anchor="t"/>
          <a:lstStyle/>
          <a:p>
            <a:pPr marL="0" indent="0">
              <a:lnSpc>
                <a:spcPts val="2879"/>
              </a:lnSpc>
              <a:buNone/>
            </a:pPr>
            <a:r>
              <a:rPr lang="en-US" sz="1799" dirty="0">
                <a:solidFill>
                  <a:srgbClr val="272525"/>
                </a:solidFill>
                <a:latin typeface="Inter" pitchFamily="34" charset="0"/>
                <a:ea typeface="Inter" pitchFamily="34" charset="-122"/>
                <a:cs typeface="Inter" pitchFamily="34" charset="-120"/>
              </a:rPr>
              <a:t>The CIFAR-10 dataset consists of 60,000 32x32 color images, divided into 10 distinct classes: airplanes, automobiles, birds, cats, deer, dogs, frogs, horses, ships, and trucks. The dataset is split into 50,000 training images and 10,000 test images, providing a well-defined benchmark for evaluating image classification models.</a:t>
            </a:r>
            <a:endParaRPr lang="en-US" sz="1799" dirty="0"/>
          </a:p>
        </p:txBody>
      </p:sp>
      <p:sp>
        <p:nvSpPr>
          <p:cNvPr id="10" name="Shape 5"/>
          <p:cNvSpPr/>
          <p:nvPr/>
        </p:nvSpPr>
        <p:spPr>
          <a:xfrm>
            <a:off x="6286024" y="5140643"/>
            <a:ext cx="7544752" cy="2446139"/>
          </a:xfrm>
          <a:prstGeom prst="roundRect">
            <a:avLst>
              <a:gd name="adj" fmla="val 3923"/>
            </a:avLst>
          </a:prstGeom>
          <a:solidFill>
            <a:srgbClr val="CCEEFF"/>
          </a:solidFill>
          <a:ln w="7620">
            <a:solidFill>
              <a:srgbClr val="B2D4E5"/>
            </a:solidFill>
            <a:prstDash val="solid"/>
          </a:ln>
        </p:spPr>
      </p:sp>
      <p:sp>
        <p:nvSpPr>
          <p:cNvPr id="11" name="Text 6"/>
          <p:cNvSpPr/>
          <p:nvPr/>
        </p:nvSpPr>
        <p:spPr>
          <a:xfrm>
            <a:off x="6522125" y="5376743"/>
            <a:ext cx="2998827" cy="374809"/>
          </a:xfrm>
          <a:prstGeom prst="rect">
            <a:avLst/>
          </a:prstGeom>
          <a:noFill/>
          <a:ln/>
        </p:spPr>
        <p:txBody>
          <a:bodyPr wrap="none" rtlCol="0" anchor="t"/>
          <a:lstStyle/>
          <a:p>
            <a:pPr marL="0" indent="0">
              <a:lnSpc>
                <a:spcPts val="2952"/>
              </a:lnSpc>
              <a:buNone/>
            </a:pPr>
            <a:r>
              <a:rPr lang="en-US" sz="2361" b="1" dirty="0">
                <a:solidFill>
                  <a:srgbClr val="272525"/>
                </a:solidFill>
                <a:latin typeface="Petrona" pitchFamily="34" charset="0"/>
                <a:ea typeface="Petrona" pitchFamily="34" charset="-122"/>
                <a:cs typeface="Petrona" pitchFamily="34" charset="-120"/>
              </a:rPr>
              <a:t>Challenges</a:t>
            </a:r>
            <a:endParaRPr lang="en-US" sz="2361" dirty="0"/>
          </a:p>
        </p:txBody>
      </p:sp>
      <p:sp>
        <p:nvSpPr>
          <p:cNvPr id="12" name="Text 7"/>
          <p:cNvSpPr/>
          <p:nvPr/>
        </p:nvSpPr>
        <p:spPr>
          <a:xfrm>
            <a:off x="6522125" y="5888593"/>
            <a:ext cx="7072551" cy="1462088"/>
          </a:xfrm>
          <a:prstGeom prst="rect">
            <a:avLst/>
          </a:prstGeom>
          <a:noFill/>
          <a:ln/>
        </p:spPr>
        <p:txBody>
          <a:bodyPr wrap="square" rtlCol="0" anchor="t"/>
          <a:lstStyle/>
          <a:p>
            <a:pPr marL="0" indent="0">
              <a:lnSpc>
                <a:spcPts val="2879"/>
              </a:lnSpc>
              <a:buNone/>
            </a:pPr>
            <a:r>
              <a:rPr lang="en-US" sz="1799" dirty="0">
                <a:solidFill>
                  <a:srgbClr val="272525"/>
                </a:solidFill>
                <a:latin typeface="Inter" pitchFamily="34" charset="0"/>
                <a:ea typeface="Inter" pitchFamily="34" charset="-122"/>
                <a:cs typeface="Inter" pitchFamily="34" charset="-120"/>
              </a:rPr>
              <a:t>The low-resolution nature of the CIFAR-10 images presents a unique challenge for the CNN model, as it must learn to extract meaningful features from these small-scale representations to accurately classify the objects.</a:t>
            </a:r>
            <a:endParaRPr lang="en-US" sz="179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9368076" y="2267426"/>
            <a:ext cx="5038130" cy="3694628"/>
          </a:xfrm>
          <a:prstGeom prst="rect">
            <a:avLst/>
          </a:prstGeom>
        </p:spPr>
      </p:pic>
      <p:sp>
        <p:nvSpPr>
          <p:cNvPr id="6" name="Text 1"/>
          <p:cNvSpPr/>
          <p:nvPr/>
        </p:nvSpPr>
        <p:spPr>
          <a:xfrm>
            <a:off x="627578" y="1219081"/>
            <a:ext cx="6893243" cy="588288"/>
          </a:xfrm>
          <a:prstGeom prst="rect">
            <a:avLst/>
          </a:prstGeom>
          <a:noFill/>
          <a:ln/>
        </p:spPr>
        <p:txBody>
          <a:bodyPr wrap="none" rtlCol="0" anchor="t"/>
          <a:lstStyle/>
          <a:p>
            <a:pPr marL="0" indent="0">
              <a:lnSpc>
                <a:spcPts val="4633"/>
              </a:lnSpc>
              <a:buNone/>
            </a:pPr>
            <a:r>
              <a:rPr lang="en-US" sz="3706" b="1" u="sng" dirty="0">
                <a:solidFill>
                  <a:srgbClr val="000000"/>
                </a:solidFill>
                <a:latin typeface="Petrona" pitchFamily="34" charset="0"/>
                <a:ea typeface="Petrona" pitchFamily="34" charset="-122"/>
                <a:cs typeface="Petrona" pitchFamily="34" charset="-120"/>
              </a:rPr>
              <a:t>Methodology - Data Preparation</a:t>
            </a:r>
            <a:endParaRPr lang="en-US" sz="3706" u="sng" dirty="0"/>
          </a:p>
        </p:txBody>
      </p:sp>
      <p:sp>
        <p:nvSpPr>
          <p:cNvPr id="7" name="Shape 2"/>
          <p:cNvSpPr/>
          <p:nvPr/>
        </p:nvSpPr>
        <p:spPr>
          <a:xfrm>
            <a:off x="885111" y="2076331"/>
            <a:ext cx="22860" cy="4934188"/>
          </a:xfrm>
          <a:prstGeom prst="roundRect">
            <a:avLst>
              <a:gd name="adj" fmla="val 329447"/>
            </a:avLst>
          </a:prstGeom>
          <a:solidFill>
            <a:srgbClr val="B2D4E5"/>
          </a:solidFill>
          <a:ln/>
        </p:spPr>
      </p:sp>
      <p:sp>
        <p:nvSpPr>
          <p:cNvPr id="8" name="Shape 3"/>
          <p:cNvSpPr/>
          <p:nvPr/>
        </p:nvSpPr>
        <p:spPr>
          <a:xfrm>
            <a:off x="1075373" y="2468285"/>
            <a:ext cx="627578" cy="22860"/>
          </a:xfrm>
          <a:prstGeom prst="roundRect">
            <a:avLst>
              <a:gd name="adj" fmla="val 329447"/>
            </a:avLst>
          </a:prstGeom>
          <a:solidFill>
            <a:srgbClr val="B2D4E5"/>
          </a:solidFill>
          <a:ln/>
        </p:spPr>
      </p:sp>
      <p:sp>
        <p:nvSpPr>
          <p:cNvPr id="9" name="Shape 4"/>
          <p:cNvSpPr/>
          <p:nvPr/>
        </p:nvSpPr>
        <p:spPr>
          <a:xfrm>
            <a:off x="694849" y="2278023"/>
            <a:ext cx="403384" cy="403384"/>
          </a:xfrm>
          <a:prstGeom prst="roundRect">
            <a:avLst>
              <a:gd name="adj" fmla="val 18670"/>
            </a:avLst>
          </a:prstGeom>
          <a:solidFill>
            <a:srgbClr val="CCEEFF"/>
          </a:solidFill>
          <a:ln w="7620">
            <a:solidFill>
              <a:srgbClr val="B2D4E5"/>
            </a:solidFill>
            <a:prstDash val="solid"/>
          </a:ln>
        </p:spPr>
      </p:sp>
      <p:sp>
        <p:nvSpPr>
          <p:cNvPr id="10" name="Text 5"/>
          <p:cNvSpPr/>
          <p:nvPr/>
        </p:nvSpPr>
        <p:spPr>
          <a:xfrm>
            <a:off x="836057" y="2338507"/>
            <a:ext cx="120848" cy="282416"/>
          </a:xfrm>
          <a:prstGeom prst="rect">
            <a:avLst/>
          </a:prstGeom>
          <a:noFill/>
          <a:ln/>
        </p:spPr>
        <p:txBody>
          <a:bodyPr wrap="none" rtlCol="0" anchor="t"/>
          <a:lstStyle/>
          <a:p>
            <a:pPr marL="0" indent="0" algn="ctr">
              <a:lnSpc>
                <a:spcPts val="2224"/>
              </a:lnSpc>
              <a:buNone/>
            </a:pPr>
            <a:r>
              <a:rPr lang="en-US" sz="2224" b="1" dirty="0">
                <a:solidFill>
                  <a:srgbClr val="272525"/>
                </a:solidFill>
                <a:latin typeface="Petrona" pitchFamily="34" charset="0"/>
                <a:ea typeface="Petrona" pitchFamily="34" charset="-122"/>
                <a:cs typeface="Petrona" pitchFamily="34" charset="-120"/>
              </a:rPr>
              <a:t>1</a:t>
            </a:r>
            <a:endParaRPr lang="en-US" sz="2224" dirty="0"/>
          </a:p>
        </p:txBody>
      </p:sp>
      <p:sp>
        <p:nvSpPr>
          <p:cNvPr id="11" name="Text 6"/>
          <p:cNvSpPr/>
          <p:nvPr/>
        </p:nvSpPr>
        <p:spPr>
          <a:xfrm>
            <a:off x="1882735" y="2255639"/>
            <a:ext cx="2353389" cy="294203"/>
          </a:xfrm>
          <a:prstGeom prst="rect">
            <a:avLst/>
          </a:prstGeom>
          <a:noFill/>
          <a:ln/>
        </p:spPr>
        <p:txBody>
          <a:bodyPr wrap="none" rtlCol="0" anchor="t"/>
          <a:lstStyle/>
          <a:p>
            <a:pPr marL="0" indent="0" algn="l">
              <a:lnSpc>
                <a:spcPts val="2316"/>
              </a:lnSpc>
              <a:buNone/>
            </a:pPr>
            <a:r>
              <a:rPr lang="en-US" sz="1853" b="1" dirty="0">
                <a:solidFill>
                  <a:srgbClr val="272525"/>
                </a:solidFill>
                <a:latin typeface="Petrona" pitchFamily="34" charset="0"/>
                <a:ea typeface="Petrona" pitchFamily="34" charset="-122"/>
                <a:cs typeface="Petrona" pitchFamily="34" charset="-120"/>
              </a:rPr>
              <a:t>Data Loading</a:t>
            </a:r>
            <a:endParaRPr lang="en-US" sz="1853" dirty="0"/>
          </a:p>
        </p:txBody>
      </p:sp>
      <p:sp>
        <p:nvSpPr>
          <p:cNvPr id="12" name="Text 7"/>
          <p:cNvSpPr/>
          <p:nvPr/>
        </p:nvSpPr>
        <p:spPr>
          <a:xfrm>
            <a:off x="1882735" y="2657356"/>
            <a:ext cx="6633686" cy="573643"/>
          </a:xfrm>
          <a:prstGeom prst="rect">
            <a:avLst/>
          </a:prstGeom>
          <a:noFill/>
          <a:ln/>
        </p:spPr>
        <p:txBody>
          <a:bodyPr wrap="square" rtlCol="0" anchor="t"/>
          <a:lstStyle/>
          <a:p>
            <a:pPr marL="0" indent="0" algn="l">
              <a:lnSpc>
                <a:spcPts val="2259"/>
              </a:lnSpc>
              <a:buNone/>
            </a:pPr>
            <a:r>
              <a:rPr lang="en-US" sz="1412" dirty="0">
                <a:solidFill>
                  <a:srgbClr val="272525"/>
                </a:solidFill>
                <a:latin typeface="Inter" pitchFamily="34" charset="0"/>
                <a:ea typeface="Inter" pitchFamily="34" charset="-122"/>
                <a:cs typeface="Inter" pitchFamily="34" charset="-120"/>
              </a:rPr>
              <a:t>The CIFAR-10 dataset is loaded using the TensorFlow and Keras libraries, providing easy access to the training and test data.</a:t>
            </a:r>
            <a:endParaRPr lang="en-US" sz="1412" dirty="0"/>
          </a:p>
        </p:txBody>
      </p:sp>
      <p:sp>
        <p:nvSpPr>
          <p:cNvPr id="13" name="Shape 8"/>
          <p:cNvSpPr/>
          <p:nvPr/>
        </p:nvSpPr>
        <p:spPr>
          <a:xfrm>
            <a:off x="1075373" y="3981569"/>
            <a:ext cx="627578" cy="22860"/>
          </a:xfrm>
          <a:prstGeom prst="roundRect">
            <a:avLst>
              <a:gd name="adj" fmla="val 329447"/>
            </a:avLst>
          </a:prstGeom>
          <a:solidFill>
            <a:srgbClr val="B2D4E5"/>
          </a:solidFill>
          <a:ln/>
        </p:spPr>
      </p:sp>
      <p:sp>
        <p:nvSpPr>
          <p:cNvPr id="14" name="Shape 9"/>
          <p:cNvSpPr/>
          <p:nvPr/>
        </p:nvSpPr>
        <p:spPr>
          <a:xfrm>
            <a:off x="694849" y="3791307"/>
            <a:ext cx="403384" cy="403384"/>
          </a:xfrm>
          <a:prstGeom prst="roundRect">
            <a:avLst>
              <a:gd name="adj" fmla="val 18670"/>
            </a:avLst>
          </a:prstGeom>
          <a:solidFill>
            <a:srgbClr val="CCEEFF"/>
          </a:solidFill>
          <a:ln w="7620">
            <a:solidFill>
              <a:srgbClr val="B2D4E5"/>
            </a:solidFill>
            <a:prstDash val="solid"/>
          </a:ln>
        </p:spPr>
      </p:sp>
      <p:sp>
        <p:nvSpPr>
          <p:cNvPr id="15" name="Text 10"/>
          <p:cNvSpPr/>
          <p:nvPr/>
        </p:nvSpPr>
        <p:spPr>
          <a:xfrm>
            <a:off x="816412" y="3851791"/>
            <a:ext cx="160139" cy="282416"/>
          </a:xfrm>
          <a:prstGeom prst="rect">
            <a:avLst/>
          </a:prstGeom>
          <a:noFill/>
          <a:ln/>
        </p:spPr>
        <p:txBody>
          <a:bodyPr wrap="none" rtlCol="0" anchor="t"/>
          <a:lstStyle/>
          <a:p>
            <a:pPr marL="0" indent="0" algn="ctr">
              <a:lnSpc>
                <a:spcPts val="2224"/>
              </a:lnSpc>
              <a:buNone/>
            </a:pPr>
            <a:r>
              <a:rPr lang="en-US" sz="2224" b="1" dirty="0">
                <a:solidFill>
                  <a:srgbClr val="272525"/>
                </a:solidFill>
                <a:latin typeface="Petrona" pitchFamily="34" charset="0"/>
                <a:ea typeface="Petrona" pitchFamily="34" charset="-122"/>
                <a:cs typeface="Petrona" pitchFamily="34" charset="-120"/>
              </a:rPr>
              <a:t>2</a:t>
            </a:r>
            <a:endParaRPr lang="en-US" sz="2224" dirty="0"/>
          </a:p>
        </p:txBody>
      </p:sp>
      <p:sp>
        <p:nvSpPr>
          <p:cNvPr id="16" name="Text 11"/>
          <p:cNvSpPr/>
          <p:nvPr/>
        </p:nvSpPr>
        <p:spPr>
          <a:xfrm>
            <a:off x="1882735" y="3768923"/>
            <a:ext cx="2353389" cy="294203"/>
          </a:xfrm>
          <a:prstGeom prst="rect">
            <a:avLst/>
          </a:prstGeom>
          <a:noFill/>
          <a:ln/>
        </p:spPr>
        <p:txBody>
          <a:bodyPr wrap="none" rtlCol="0" anchor="t"/>
          <a:lstStyle/>
          <a:p>
            <a:pPr marL="0" indent="0" algn="l">
              <a:lnSpc>
                <a:spcPts val="2316"/>
              </a:lnSpc>
              <a:buNone/>
            </a:pPr>
            <a:r>
              <a:rPr lang="en-US" sz="1853" b="1" dirty="0">
                <a:solidFill>
                  <a:srgbClr val="272525"/>
                </a:solidFill>
                <a:latin typeface="Petrona" pitchFamily="34" charset="0"/>
                <a:ea typeface="Petrona" pitchFamily="34" charset="-122"/>
                <a:cs typeface="Petrona" pitchFamily="34" charset="-120"/>
              </a:rPr>
              <a:t>Data Preprocessing</a:t>
            </a:r>
            <a:endParaRPr lang="en-US" sz="1853" dirty="0"/>
          </a:p>
        </p:txBody>
      </p:sp>
      <p:sp>
        <p:nvSpPr>
          <p:cNvPr id="17" name="Text 12"/>
          <p:cNvSpPr/>
          <p:nvPr/>
        </p:nvSpPr>
        <p:spPr>
          <a:xfrm>
            <a:off x="1882735" y="4170640"/>
            <a:ext cx="6633686" cy="860465"/>
          </a:xfrm>
          <a:prstGeom prst="rect">
            <a:avLst/>
          </a:prstGeom>
          <a:noFill/>
          <a:ln/>
        </p:spPr>
        <p:txBody>
          <a:bodyPr wrap="square" rtlCol="0" anchor="t"/>
          <a:lstStyle/>
          <a:p>
            <a:pPr marL="0" indent="0" algn="l">
              <a:lnSpc>
                <a:spcPts val="2259"/>
              </a:lnSpc>
              <a:buNone/>
            </a:pPr>
            <a:r>
              <a:rPr lang="en-US" sz="1412" dirty="0">
                <a:solidFill>
                  <a:srgbClr val="272525"/>
                </a:solidFill>
                <a:latin typeface="Inter" pitchFamily="34" charset="0"/>
                <a:ea typeface="Inter" pitchFamily="34" charset="-122"/>
                <a:cs typeface="Inter" pitchFamily="34" charset="-120"/>
              </a:rPr>
              <a:t>The images are normalized to the range [0, 1] to ensure consistent input values for the neural network. Additionally, the target labels are one-hot encoded to represent the 10 classes.</a:t>
            </a:r>
            <a:endParaRPr lang="en-US" sz="1412" dirty="0"/>
          </a:p>
        </p:txBody>
      </p:sp>
      <p:sp>
        <p:nvSpPr>
          <p:cNvPr id="18" name="Shape 13"/>
          <p:cNvSpPr/>
          <p:nvPr/>
        </p:nvSpPr>
        <p:spPr>
          <a:xfrm>
            <a:off x="1075373" y="5781675"/>
            <a:ext cx="627578" cy="22860"/>
          </a:xfrm>
          <a:prstGeom prst="roundRect">
            <a:avLst>
              <a:gd name="adj" fmla="val 329447"/>
            </a:avLst>
          </a:prstGeom>
          <a:solidFill>
            <a:srgbClr val="B2D4E5"/>
          </a:solidFill>
          <a:ln/>
        </p:spPr>
      </p:sp>
      <p:sp>
        <p:nvSpPr>
          <p:cNvPr id="19" name="Shape 14"/>
          <p:cNvSpPr/>
          <p:nvPr/>
        </p:nvSpPr>
        <p:spPr>
          <a:xfrm>
            <a:off x="694849" y="5591413"/>
            <a:ext cx="403384" cy="403384"/>
          </a:xfrm>
          <a:prstGeom prst="roundRect">
            <a:avLst>
              <a:gd name="adj" fmla="val 18670"/>
            </a:avLst>
          </a:prstGeom>
          <a:solidFill>
            <a:srgbClr val="CCEEFF"/>
          </a:solidFill>
          <a:ln w="7620">
            <a:solidFill>
              <a:srgbClr val="B2D4E5"/>
            </a:solidFill>
            <a:prstDash val="solid"/>
          </a:ln>
        </p:spPr>
      </p:sp>
      <p:sp>
        <p:nvSpPr>
          <p:cNvPr id="20" name="Text 15"/>
          <p:cNvSpPr/>
          <p:nvPr/>
        </p:nvSpPr>
        <p:spPr>
          <a:xfrm>
            <a:off x="816650" y="5651897"/>
            <a:ext cx="159782" cy="282416"/>
          </a:xfrm>
          <a:prstGeom prst="rect">
            <a:avLst/>
          </a:prstGeom>
          <a:noFill/>
          <a:ln/>
        </p:spPr>
        <p:txBody>
          <a:bodyPr wrap="none" rtlCol="0" anchor="t"/>
          <a:lstStyle/>
          <a:p>
            <a:pPr marL="0" indent="0" algn="ctr">
              <a:lnSpc>
                <a:spcPts val="2224"/>
              </a:lnSpc>
              <a:buNone/>
            </a:pPr>
            <a:r>
              <a:rPr lang="en-US" sz="2224" b="1" dirty="0">
                <a:solidFill>
                  <a:srgbClr val="272525"/>
                </a:solidFill>
                <a:latin typeface="Petrona" pitchFamily="34" charset="0"/>
                <a:ea typeface="Petrona" pitchFamily="34" charset="-122"/>
                <a:cs typeface="Petrona" pitchFamily="34" charset="-120"/>
              </a:rPr>
              <a:t>3</a:t>
            </a:r>
            <a:endParaRPr lang="en-US" sz="2224" dirty="0"/>
          </a:p>
        </p:txBody>
      </p:sp>
      <p:sp>
        <p:nvSpPr>
          <p:cNvPr id="21" name="Text 16"/>
          <p:cNvSpPr/>
          <p:nvPr/>
        </p:nvSpPr>
        <p:spPr>
          <a:xfrm>
            <a:off x="1882735" y="5569029"/>
            <a:ext cx="2353389" cy="294203"/>
          </a:xfrm>
          <a:prstGeom prst="rect">
            <a:avLst/>
          </a:prstGeom>
          <a:noFill/>
          <a:ln/>
        </p:spPr>
        <p:txBody>
          <a:bodyPr wrap="none" rtlCol="0" anchor="t"/>
          <a:lstStyle/>
          <a:p>
            <a:pPr marL="0" indent="0" algn="l">
              <a:lnSpc>
                <a:spcPts val="2316"/>
              </a:lnSpc>
              <a:buNone/>
            </a:pPr>
            <a:r>
              <a:rPr lang="en-US" sz="1853" b="1" dirty="0">
                <a:solidFill>
                  <a:srgbClr val="272525"/>
                </a:solidFill>
                <a:latin typeface="Petrona" pitchFamily="34" charset="0"/>
                <a:ea typeface="Petrona" pitchFamily="34" charset="-122"/>
                <a:cs typeface="Petrona" pitchFamily="34" charset="-120"/>
              </a:rPr>
              <a:t>Code Snippets</a:t>
            </a:r>
            <a:endParaRPr lang="en-US" sz="1853" dirty="0"/>
          </a:p>
        </p:txBody>
      </p:sp>
      <p:sp>
        <p:nvSpPr>
          <p:cNvPr id="22" name="Text 17"/>
          <p:cNvSpPr/>
          <p:nvPr/>
        </p:nvSpPr>
        <p:spPr>
          <a:xfrm>
            <a:off x="1882735" y="5970746"/>
            <a:ext cx="6633686" cy="860465"/>
          </a:xfrm>
          <a:prstGeom prst="rect">
            <a:avLst/>
          </a:prstGeom>
          <a:noFill/>
          <a:ln/>
        </p:spPr>
        <p:txBody>
          <a:bodyPr wrap="square" rtlCol="0" anchor="t"/>
          <a:lstStyle/>
          <a:p>
            <a:pPr marL="0" indent="0" algn="l">
              <a:lnSpc>
                <a:spcPts val="2259"/>
              </a:lnSpc>
              <a:buNone/>
            </a:pPr>
            <a:r>
              <a:rPr lang="en-US" sz="1412" dirty="0">
                <a:solidFill>
                  <a:srgbClr val="272525"/>
                </a:solidFill>
                <a:latin typeface="Inter" pitchFamily="34" charset="0"/>
                <a:ea typeface="Inter" pitchFamily="34" charset="-122"/>
                <a:cs typeface="Inter" pitchFamily="34" charset="-120"/>
              </a:rPr>
              <a:t>The presentation includes relevant code snippets demonstrating the data loading and preprocessing steps, allowing the audience to understand the implementation details.</a:t>
            </a:r>
            <a:endParaRPr lang="en-US" sz="141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9381649" y="2444472"/>
            <a:ext cx="5010983" cy="3340656"/>
          </a:xfrm>
          <a:prstGeom prst="rect">
            <a:avLst/>
          </a:prstGeom>
        </p:spPr>
      </p:pic>
      <p:sp>
        <p:nvSpPr>
          <p:cNvPr id="6" name="Text 1"/>
          <p:cNvSpPr/>
          <p:nvPr/>
        </p:nvSpPr>
        <p:spPr>
          <a:xfrm>
            <a:off x="665559" y="828913"/>
            <a:ext cx="7812881" cy="1248013"/>
          </a:xfrm>
          <a:prstGeom prst="rect">
            <a:avLst/>
          </a:prstGeom>
          <a:noFill/>
          <a:ln/>
        </p:spPr>
        <p:txBody>
          <a:bodyPr wrap="square" rtlCol="0" anchor="t"/>
          <a:lstStyle/>
          <a:p>
            <a:pPr marL="0" indent="0">
              <a:lnSpc>
                <a:spcPts val="4914"/>
              </a:lnSpc>
              <a:buNone/>
            </a:pPr>
            <a:r>
              <a:rPr lang="en-US" sz="3931" b="1" u="sng" dirty="0">
                <a:solidFill>
                  <a:srgbClr val="000000"/>
                </a:solidFill>
                <a:latin typeface="Petrona" pitchFamily="34" charset="0"/>
                <a:ea typeface="Petrona" pitchFamily="34" charset="-122"/>
                <a:cs typeface="Petrona" pitchFamily="34" charset="-120"/>
              </a:rPr>
              <a:t>Methodology - Model Development</a:t>
            </a:r>
            <a:endParaRPr lang="en-US" sz="3931" u="sng" dirty="0"/>
          </a:p>
        </p:txBody>
      </p:sp>
      <p:sp>
        <p:nvSpPr>
          <p:cNvPr id="7" name="Shape 2"/>
          <p:cNvSpPr/>
          <p:nvPr/>
        </p:nvSpPr>
        <p:spPr>
          <a:xfrm>
            <a:off x="665559" y="2576155"/>
            <a:ext cx="427911" cy="427911"/>
          </a:xfrm>
          <a:prstGeom prst="roundRect">
            <a:avLst>
              <a:gd name="adj" fmla="val 18667"/>
            </a:avLst>
          </a:prstGeom>
          <a:solidFill>
            <a:srgbClr val="CCEEFF"/>
          </a:solidFill>
          <a:ln w="7620">
            <a:solidFill>
              <a:srgbClr val="B2D4E5"/>
            </a:solidFill>
            <a:prstDash val="solid"/>
          </a:ln>
        </p:spPr>
      </p:sp>
      <p:sp>
        <p:nvSpPr>
          <p:cNvPr id="8" name="Text 3"/>
          <p:cNvSpPr/>
          <p:nvPr/>
        </p:nvSpPr>
        <p:spPr>
          <a:xfrm>
            <a:off x="815340" y="2640330"/>
            <a:ext cx="128230" cy="299561"/>
          </a:xfrm>
          <a:prstGeom prst="rect">
            <a:avLst/>
          </a:prstGeom>
          <a:noFill/>
          <a:ln/>
        </p:spPr>
        <p:txBody>
          <a:bodyPr wrap="none" rtlCol="0" anchor="t"/>
          <a:lstStyle/>
          <a:p>
            <a:pPr marL="0" indent="0" algn="ctr">
              <a:lnSpc>
                <a:spcPts val="2359"/>
              </a:lnSpc>
              <a:buNone/>
            </a:pPr>
            <a:r>
              <a:rPr lang="en-US" sz="2359" b="1" dirty="0">
                <a:solidFill>
                  <a:srgbClr val="272525"/>
                </a:solidFill>
                <a:latin typeface="Petrona" pitchFamily="34" charset="0"/>
                <a:ea typeface="Petrona" pitchFamily="34" charset="-122"/>
                <a:cs typeface="Petrona" pitchFamily="34" charset="-120"/>
              </a:rPr>
              <a:t>1</a:t>
            </a:r>
            <a:endParaRPr lang="en-US" sz="2359" dirty="0"/>
          </a:p>
        </p:txBody>
      </p:sp>
      <p:sp>
        <p:nvSpPr>
          <p:cNvPr id="9" name="Text 4"/>
          <p:cNvSpPr/>
          <p:nvPr/>
        </p:nvSpPr>
        <p:spPr>
          <a:xfrm>
            <a:off x="1283613" y="2576155"/>
            <a:ext cx="2496145" cy="312063"/>
          </a:xfrm>
          <a:prstGeom prst="rect">
            <a:avLst/>
          </a:prstGeom>
          <a:noFill/>
          <a:ln/>
        </p:spPr>
        <p:txBody>
          <a:bodyPr wrap="none" rtlCol="0" anchor="t"/>
          <a:lstStyle/>
          <a:p>
            <a:pPr marL="0" indent="0">
              <a:lnSpc>
                <a:spcPts val="2457"/>
              </a:lnSpc>
              <a:buNone/>
            </a:pPr>
            <a:r>
              <a:rPr lang="en-US" sz="1965" b="1" dirty="0">
                <a:solidFill>
                  <a:srgbClr val="272525"/>
                </a:solidFill>
                <a:latin typeface="Petrona" pitchFamily="34" charset="0"/>
                <a:ea typeface="Petrona" pitchFamily="34" charset="-122"/>
                <a:cs typeface="Petrona" pitchFamily="34" charset="-120"/>
              </a:rPr>
              <a:t>Model Architecture</a:t>
            </a:r>
            <a:endParaRPr lang="en-US" sz="1965" dirty="0"/>
          </a:p>
        </p:txBody>
      </p:sp>
      <p:sp>
        <p:nvSpPr>
          <p:cNvPr id="10" name="Text 5"/>
          <p:cNvSpPr/>
          <p:nvPr/>
        </p:nvSpPr>
        <p:spPr>
          <a:xfrm>
            <a:off x="1283613" y="3002280"/>
            <a:ext cx="7194828" cy="912614"/>
          </a:xfrm>
          <a:prstGeom prst="rect">
            <a:avLst/>
          </a:prstGeom>
          <a:noFill/>
          <a:ln/>
        </p:spPr>
        <p:txBody>
          <a:bodyPr wrap="square" rtlCol="0" anchor="t"/>
          <a:lstStyle/>
          <a:p>
            <a:pPr marL="0" indent="0">
              <a:lnSpc>
                <a:spcPts val="2396"/>
              </a:lnSpc>
              <a:buNone/>
            </a:pPr>
            <a:r>
              <a:rPr lang="en-US" sz="1498" dirty="0">
                <a:solidFill>
                  <a:srgbClr val="272525"/>
                </a:solidFill>
                <a:latin typeface="Inter" pitchFamily="34" charset="0"/>
                <a:ea typeface="Inter" pitchFamily="34" charset="-122"/>
                <a:cs typeface="Inter" pitchFamily="34" charset="-120"/>
              </a:rPr>
              <a:t>The CNN model consists of multiple convolutional layers, pooling layers, and dense layers, designed to effectively extract and learn features from the low-resolution CIFAR-10 images.</a:t>
            </a:r>
            <a:endParaRPr lang="en-US" sz="1498" dirty="0"/>
          </a:p>
        </p:txBody>
      </p:sp>
      <p:sp>
        <p:nvSpPr>
          <p:cNvPr id="11" name="Shape 6"/>
          <p:cNvSpPr/>
          <p:nvPr/>
        </p:nvSpPr>
        <p:spPr>
          <a:xfrm>
            <a:off x="665559" y="4318992"/>
            <a:ext cx="427911" cy="427911"/>
          </a:xfrm>
          <a:prstGeom prst="roundRect">
            <a:avLst>
              <a:gd name="adj" fmla="val 18667"/>
            </a:avLst>
          </a:prstGeom>
          <a:solidFill>
            <a:srgbClr val="CCEEFF"/>
          </a:solidFill>
          <a:ln w="7620">
            <a:solidFill>
              <a:srgbClr val="B2D4E5"/>
            </a:solidFill>
            <a:prstDash val="solid"/>
          </a:ln>
        </p:spPr>
      </p:sp>
      <p:sp>
        <p:nvSpPr>
          <p:cNvPr id="12" name="Text 7"/>
          <p:cNvSpPr/>
          <p:nvPr/>
        </p:nvSpPr>
        <p:spPr>
          <a:xfrm>
            <a:off x="794504" y="4383167"/>
            <a:ext cx="169902" cy="299561"/>
          </a:xfrm>
          <a:prstGeom prst="rect">
            <a:avLst/>
          </a:prstGeom>
          <a:noFill/>
          <a:ln/>
        </p:spPr>
        <p:txBody>
          <a:bodyPr wrap="none" rtlCol="0" anchor="t"/>
          <a:lstStyle/>
          <a:p>
            <a:pPr marL="0" indent="0" algn="ctr">
              <a:lnSpc>
                <a:spcPts val="2359"/>
              </a:lnSpc>
              <a:buNone/>
            </a:pPr>
            <a:r>
              <a:rPr lang="en-US" sz="2359" b="1" dirty="0">
                <a:solidFill>
                  <a:srgbClr val="272525"/>
                </a:solidFill>
                <a:latin typeface="Petrona" pitchFamily="34" charset="0"/>
                <a:ea typeface="Petrona" pitchFamily="34" charset="-122"/>
                <a:cs typeface="Petrona" pitchFamily="34" charset="-120"/>
              </a:rPr>
              <a:t>2</a:t>
            </a:r>
            <a:endParaRPr lang="en-US" sz="2359" dirty="0"/>
          </a:p>
        </p:txBody>
      </p:sp>
      <p:sp>
        <p:nvSpPr>
          <p:cNvPr id="13" name="Text 8"/>
          <p:cNvSpPr/>
          <p:nvPr/>
        </p:nvSpPr>
        <p:spPr>
          <a:xfrm>
            <a:off x="1283613" y="4318992"/>
            <a:ext cx="2496145" cy="312063"/>
          </a:xfrm>
          <a:prstGeom prst="rect">
            <a:avLst/>
          </a:prstGeom>
          <a:noFill/>
          <a:ln/>
        </p:spPr>
        <p:txBody>
          <a:bodyPr wrap="none" rtlCol="0" anchor="t"/>
          <a:lstStyle/>
          <a:p>
            <a:pPr marL="0" indent="0">
              <a:lnSpc>
                <a:spcPts val="2457"/>
              </a:lnSpc>
              <a:buNone/>
            </a:pPr>
            <a:r>
              <a:rPr lang="en-US" sz="1965" b="1" dirty="0">
                <a:solidFill>
                  <a:srgbClr val="272525"/>
                </a:solidFill>
                <a:latin typeface="Petrona" pitchFamily="34" charset="0"/>
                <a:ea typeface="Petrona" pitchFamily="34" charset="-122"/>
                <a:cs typeface="Petrona" pitchFamily="34" charset="-120"/>
              </a:rPr>
              <a:t>Model Compilation</a:t>
            </a:r>
            <a:endParaRPr lang="en-US" sz="1965" dirty="0"/>
          </a:p>
        </p:txBody>
      </p:sp>
      <p:sp>
        <p:nvSpPr>
          <p:cNvPr id="14" name="Text 9"/>
          <p:cNvSpPr/>
          <p:nvPr/>
        </p:nvSpPr>
        <p:spPr>
          <a:xfrm>
            <a:off x="1283613" y="4745117"/>
            <a:ext cx="7194828" cy="912614"/>
          </a:xfrm>
          <a:prstGeom prst="rect">
            <a:avLst/>
          </a:prstGeom>
          <a:noFill/>
          <a:ln/>
        </p:spPr>
        <p:txBody>
          <a:bodyPr wrap="square" rtlCol="0" anchor="t"/>
          <a:lstStyle/>
          <a:p>
            <a:pPr marL="0" indent="0">
              <a:lnSpc>
                <a:spcPts val="2396"/>
              </a:lnSpc>
              <a:buNone/>
            </a:pPr>
            <a:r>
              <a:rPr lang="en-US" sz="1498" dirty="0">
                <a:solidFill>
                  <a:srgbClr val="272525"/>
                </a:solidFill>
                <a:latin typeface="Inter" pitchFamily="34" charset="0"/>
                <a:ea typeface="Inter" pitchFamily="34" charset="-122"/>
                <a:cs typeface="Inter" pitchFamily="34" charset="-120"/>
              </a:rPr>
              <a:t>The model is compiled with an appropriate optimizer, loss function, and evaluation metrics to guide the training process and measure the model's performance.</a:t>
            </a:r>
            <a:endParaRPr lang="en-US" sz="1498" dirty="0"/>
          </a:p>
        </p:txBody>
      </p:sp>
      <p:sp>
        <p:nvSpPr>
          <p:cNvPr id="15" name="Shape 10"/>
          <p:cNvSpPr/>
          <p:nvPr/>
        </p:nvSpPr>
        <p:spPr>
          <a:xfrm>
            <a:off x="665559" y="6061829"/>
            <a:ext cx="427911" cy="427911"/>
          </a:xfrm>
          <a:prstGeom prst="roundRect">
            <a:avLst>
              <a:gd name="adj" fmla="val 18667"/>
            </a:avLst>
          </a:prstGeom>
          <a:solidFill>
            <a:srgbClr val="CCEEFF"/>
          </a:solidFill>
          <a:ln w="7620">
            <a:solidFill>
              <a:srgbClr val="B2D4E5"/>
            </a:solidFill>
            <a:prstDash val="solid"/>
          </a:ln>
        </p:spPr>
      </p:sp>
      <p:sp>
        <p:nvSpPr>
          <p:cNvPr id="16" name="Text 11"/>
          <p:cNvSpPr/>
          <p:nvPr/>
        </p:nvSpPr>
        <p:spPr>
          <a:xfrm>
            <a:off x="794742" y="6126004"/>
            <a:ext cx="169545" cy="299561"/>
          </a:xfrm>
          <a:prstGeom prst="rect">
            <a:avLst/>
          </a:prstGeom>
          <a:noFill/>
          <a:ln/>
        </p:spPr>
        <p:txBody>
          <a:bodyPr wrap="none" rtlCol="0" anchor="t"/>
          <a:lstStyle/>
          <a:p>
            <a:pPr marL="0" indent="0" algn="ctr">
              <a:lnSpc>
                <a:spcPts val="2359"/>
              </a:lnSpc>
              <a:buNone/>
            </a:pPr>
            <a:r>
              <a:rPr lang="en-US" sz="2359" b="1" dirty="0">
                <a:solidFill>
                  <a:srgbClr val="272525"/>
                </a:solidFill>
                <a:latin typeface="Petrona" pitchFamily="34" charset="0"/>
                <a:ea typeface="Petrona" pitchFamily="34" charset="-122"/>
                <a:cs typeface="Petrona" pitchFamily="34" charset="-120"/>
              </a:rPr>
              <a:t>3</a:t>
            </a:r>
            <a:endParaRPr lang="en-US" sz="2359" dirty="0"/>
          </a:p>
        </p:txBody>
      </p:sp>
      <p:sp>
        <p:nvSpPr>
          <p:cNvPr id="17" name="Text 12"/>
          <p:cNvSpPr/>
          <p:nvPr/>
        </p:nvSpPr>
        <p:spPr>
          <a:xfrm>
            <a:off x="1283613" y="6061829"/>
            <a:ext cx="2496145" cy="312063"/>
          </a:xfrm>
          <a:prstGeom prst="rect">
            <a:avLst/>
          </a:prstGeom>
          <a:noFill/>
          <a:ln/>
        </p:spPr>
        <p:txBody>
          <a:bodyPr wrap="none" rtlCol="0" anchor="t"/>
          <a:lstStyle/>
          <a:p>
            <a:pPr marL="0" indent="0">
              <a:lnSpc>
                <a:spcPts val="2457"/>
              </a:lnSpc>
              <a:buNone/>
            </a:pPr>
            <a:r>
              <a:rPr lang="en-US" sz="1965" b="1" dirty="0">
                <a:solidFill>
                  <a:srgbClr val="272525"/>
                </a:solidFill>
                <a:latin typeface="Petrona" pitchFamily="34" charset="0"/>
                <a:ea typeface="Petrona" pitchFamily="34" charset="-122"/>
                <a:cs typeface="Petrona" pitchFamily="34" charset="-120"/>
              </a:rPr>
              <a:t>Code Snippets</a:t>
            </a:r>
            <a:endParaRPr lang="en-US" sz="1965" dirty="0"/>
          </a:p>
        </p:txBody>
      </p:sp>
      <p:sp>
        <p:nvSpPr>
          <p:cNvPr id="18" name="Text 13"/>
          <p:cNvSpPr/>
          <p:nvPr/>
        </p:nvSpPr>
        <p:spPr>
          <a:xfrm>
            <a:off x="1283613" y="6487954"/>
            <a:ext cx="7194828" cy="912614"/>
          </a:xfrm>
          <a:prstGeom prst="rect">
            <a:avLst/>
          </a:prstGeom>
          <a:noFill/>
          <a:ln/>
        </p:spPr>
        <p:txBody>
          <a:bodyPr wrap="square" rtlCol="0" anchor="t"/>
          <a:lstStyle/>
          <a:p>
            <a:pPr marL="0" indent="0">
              <a:lnSpc>
                <a:spcPts val="2396"/>
              </a:lnSpc>
              <a:buNone/>
            </a:pPr>
            <a:r>
              <a:rPr lang="en-US" sz="1498" dirty="0">
                <a:solidFill>
                  <a:srgbClr val="272525"/>
                </a:solidFill>
                <a:latin typeface="Inter" pitchFamily="34" charset="0"/>
                <a:ea typeface="Inter" pitchFamily="34" charset="-122"/>
                <a:cs typeface="Inter" pitchFamily="34" charset="-120"/>
              </a:rPr>
              <a:t>The presentation includes code snippets that demonstrate the definition and compilation of the CNN model, allowing the audience to understand the technical implementation.</a:t>
            </a:r>
            <a:endParaRPr lang="en-US" sz="149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216694" y="2436733"/>
            <a:ext cx="5052893" cy="3356015"/>
          </a:xfrm>
          <a:prstGeom prst="rect">
            <a:avLst/>
          </a:prstGeom>
        </p:spPr>
      </p:pic>
      <p:sp>
        <p:nvSpPr>
          <p:cNvPr id="6" name="Text 1"/>
          <p:cNvSpPr/>
          <p:nvPr/>
        </p:nvSpPr>
        <p:spPr>
          <a:xfrm>
            <a:off x="6093143" y="892373"/>
            <a:ext cx="7930515" cy="1137523"/>
          </a:xfrm>
          <a:prstGeom prst="rect">
            <a:avLst/>
          </a:prstGeom>
          <a:noFill/>
          <a:ln/>
        </p:spPr>
        <p:txBody>
          <a:bodyPr wrap="square" rtlCol="0" anchor="t"/>
          <a:lstStyle/>
          <a:p>
            <a:pPr marL="0" indent="0">
              <a:lnSpc>
                <a:spcPts val="4479"/>
              </a:lnSpc>
              <a:buNone/>
            </a:pPr>
            <a:r>
              <a:rPr lang="en-US" sz="3583" b="1" u="sng" dirty="0">
                <a:solidFill>
                  <a:srgbClr val="000000"/>
                </a:solidFill>
                <a:latin typeface="Petrona" pitchFamily="34" charset="0"/>
                <a:ea typeface="Petrona" pitchFamily="34" charset="-122"/>
                <a:cs typeface="Petrona" pitchFamily="34" charset="-120"/>
              </a:rPr>
              <a:t>Methodology - Model Training &amp; Evaluation</a:t>
            </a:r>
            <a:endParaRPr lang="en-US" sz="3583" u="sng" dirty="0"/>
          </a:p>
        </p:txBody>
      </p:sp>
      <p:sp>
        <p:nvSpPr>
          <p:cNvPr id="7" name="Shape 2"/>
          <p:cNvSpPr/>
          <p:nvPr/>
        </p:nvSpPr>
        <p:spPr>
          <a:xfrm>
            <a:off x="6341745" y="2289929"/>
            <a:ext cx="22860" cy="5047298"/>
          </a:xfrm>
          <a:prstGeom prst="roundRect">
            <a:avLst>
              <a:gd name="adj" fmla="val 318523"/>
            </a:avLst>
          </a:prstGeom>
          <a:solidFill>
            <a:srgbClr val="B2D4E5"/>
          </a:solidFill>
          <a:ln/>
        </p:spPr>
      </p:sp>
      <p:sp>
        <p:nvSpPr>
          <p:cNvPr id="8" name="Shape 3"/>
          <p:cNvSpPr/>
          <p:nvPr/>
        </p:nvSpPr>
        <p:spPr>
          <a:xfrm>
            <a:off x="6525339" y="2668548"/>
            <a:ext cx="606743" cy="22860"/>
          </a:xfrm>
          <a:prstGeom prst="roundRect">
            <a:avLst>
              <a:gd name="adj" fmla="val 318523"/>
            </a:avLst>
          </a:prstGeom>
          <a:solidFill>
            <a:srgbClr val="B2D4E5"/>
          </a:solidFill>
          <a:ln/>
        </p:spPr>
      </p:sp>
      <p:sp>
        <p:nvSpPr>
          <p:cNvPr id="9" name="Shape 4"/>
          <p:cNvSpPr/>
          <p:nvPr/>
        </p:nvSpPr>
        <p:spPr>
          <a:xfrm>
            <a:off x="6158151" y="2484953"/>
            <a:ext cx="390049" cy="390049"/>
          </a:xfrm>
          <a:prstGeom prst="roundRect">
            <a:avLst>
              <a:gd name="adj" fmla="val 18668"/>
            </a:avLst>
          </a:prstGeom>
          <a:solidFill>
            <a:srgbClr val="CCEEFF"/>
          </a:solidFill>
          <a:ln w="7620">
            <a:solidFill>
              <a:srgbClr val="B2D4E5"/>
            </a:solidFill>
            <a:prstDash val="solid"/>
          </a:ln>
        </p:spPr>
      </p:sp>
      <p:sp>
        <p:nvSpPr>
          <p:cNvPr id="10" name="Text 5"/>
          <p:cNvSpPr/>
          <p:nvPr/>
        </p:nvSpPr>
        <p:spPr>
          <a:xfrm>
            <a:off x="6294715" y="2543413"/>
            <a:ext cx="116919" cy="273010"/>
          </a:xfrm>
          <a:prstGeom prst="rect">
            <a:avLst/>
          </a:prstGeom>
          <a:noFill/>
          <a:ln/>
        </p:spPr>
        <p:txBody>
          <a:bodyPr wrap="none" rtlCol="0" anchor="t"/>
          <a:lstStyle/>
          <a:p>
            <a:pPr marL="0" indent="0" algn="ctr">
              <a:lnSpc>
                <a:spcPts val="2150"/>
              </a:lnSpc>
              <a:buNone/>
            </a:pPr>
            <a:r>
              <a:rPr lang="en-US" sz="2150" b="1" dirty="0">
                <a:solidFill>
                  <a:srgbClr val="272525"/>
                </a:solidFill>
                <a:latin typeface="Petrona" pitchFamily="34" charset="0"/>
                <a:ea typeface="Petrona" pitchFamily="34" charset="-122"/>
                <a:cs typeface="Petrona" pitchFamily="34" charset="-120"/>
              </a:rPr>
              <a:t>1</a:t>
            </a:r>
            <a:endParaRPr lang="en-US" sz="2150" dirty="0"/>
          </a:p>
        </p:txBody>
      </p:sp>
      <p:sp>
        <p:nvSpPr>
          <p:cNvPr id="11" name="Text 6"/>
          <p:cNvSpPr/>
          <p:nvPr/>
        </p:nvSpPr>
        <p:spPr>
          <a:xfrm>
            <a:off x="7306628" y="2463284"/>
            <a:ext cx="2275403" cy="284321"/>
          </a:xfrm>
          <a:prstGeom prst="rect">
            <a:avLst/>
          </a:prstGeom>
          <a:noFill/>
          <a:ln/>
        </p:spPr>
        <p:txBody>
          <a:bodyPr wrap="none" rtlCol="0" anchor="t"/>
          <a:lstStyle/>
          <a:p>
            <a:pPr marL="0" indent="0" algn="l">
              <a:lnSpc>
                <a:spcPts val="2240"/>
              </a:lnSpc>
              <a:buNone/>
            </a:pPr>
            <a:r>
              <a:rPr lang="en-US" sz="1792" b="1" dirty="0">
                <a:solidFill>
                  <a:srgbClr val="272525"/>
                </a:solidFill>
                <a:latin typeface="Petrona" pitchFamily="34" charset="0"/>
                <a:ea typeface="Petrona" pitchFamily="34" charset="-122"/>
                <a:cs typeface="Petrona" pitchFamily="34" charset="-120"/>
              </a:rPr>
              <a:t>Training Process</a:t>
            </a:r>
            <a:endParaRPr lang="en-US" sz="1792" dirty="0"/>
          </a:p>
        </p:txBody>
      </p:sp>
      <p:sp>
        <p:nvSpPr>
          <p:cNvPr id="12" name="Text 7"/>
          <p:cNvSpPr/>
          <p:nvPr/>
        </p:nvSpPr>
        <p:spPr>
          <a:xfrm>
            <a:off x="7306628" y="2851547"/>
            <a:ext cx="6717030" cy="831890"/>
          </a:xfrm>
          <a:prstGeom prst="rect">
            <a:avLst/>
          </a:prstGeom>
          <a:noFill/>
          <a:ln/>
        </p:spPr>
        <p:txBody>
          <a:bodyPr wrap="square" rtlCol="0" anchor="t"/>
          <a:lstStyle/>
          <a:p>
            <a:pPr marL="0" indent="0" algn="l">
              <a:lnSpc>
                <a:spcPts val="2184"/>
              </a:lnSpc>
              <a:buNone/>
            </a:pPr>
            <a:r>
              <a:rPr lang="en-US" sz="1365" dirty="0">
                <a:solidFill>
                  <a:srgbClr val="272525"/>
                </a:solidFill>
                <a:latin typeface="Inter" pitchFamily="34" charset="0"/>
                <a:ea typeface="Inter" pitchFamily="34" charset="-122"/>
                <a:cs typeface="Inter" pitchFamily="34" charset="-120"/>
              </a:rPr>
              <a:t>The CNN model is trained on the CIFAR-10 dataset for 10 epochs, with validation performed during the training process to monitor the model's performance and prevent overfitting.</a:t>
            </a:r>
            <a:endParaRPr lang="en-US" sz="1365" dirty="0"/>
          </a:p>
        </p:txBody>
      </p:sp>
      <p:sp>
        <p:nvSpPr>
          <p:cNvPr id="13" name="Shape 8"/>
          <p:cNvSpPr/>
          <p:nvPr/>
        </p:nvSpPr>
        <p:spPr>
          <a:xfrm>
            <a:off x="6525339" y="4408765"/>
            <a:ext cx="606743" cy="22860"/>
          </a:xfrm>
          <a:prstGeom prst="roundRect">
            <a:avLst>
              <a:gd name="adj" fmla="val 318523"/>
            </a:avLst>
          </a:prstGeom>
          <a:solidFill>
            <a:srgbClr val="B2D4E5"/>
          </a:solidFill>
          <a:ln/>
        </p:spPr>
      </p:sp>
      <p:sp>
        <p:nvSpPr>
          <p:cNvPr id="14" name="Shape 9"/>
          <p:cNvSpPr/>
          <p:nvPr/>
        </p:nvSpPr>
        <p:spPr>
          <a:xfrm>
            <a:off x="6158151" y="4225171"/>
            <a:ext cx="390049" cy="390049"/>
          </a:xfrm>
          <a:prstGeom prst="roundRect">
            <a:avLst>
              <a:gd name="adj" fmla="val 18668"/>
            </a:avLst>
          </a:prstGeom>
          <a:solidFill>
            <a:srgbClr val="CCEEFF"/>
          </a:solidFill>
          <a:ln w="7620">
            <a:solidFill>
              <a:srgbClr val="B2D4E5"/>
            </a:solidFill>
            <a:prstDash val="solid"/>
          </a:ln>
        </p:spPr>
      </p:sp>
      <p:sp>
        <p:nvSpPr>
          <p:cNvPr id="15" name="Text 10"/>
          <p:cNvSpPr/>
          <p:nvPr/>
        </p:nvSpPr>
        <p:spPr>
          <a:xfrm>
            <a:off x="6275665" y="4283631"/>
            <a:ext cx="154900" cy="273010"/>
          </a:xfrm>
          <a:prstGeom prst="rect">
            <a:avLst/>
          </a:prstGeom>
          <a:noFill/>
          <a:ln/>
        </p:spPr>
        <p:txBody>
          <a:bodyPr wrap="none" rtlCol="0" anchor="t"/>
          <a:lstStyle/>
          <a:p>
            <a:pPr marL="0" indent="0" algn="ctr">
              <a:lnSpc>
                <a:spcPts val="2150"/>
              </a:lnSpc>
              <a:buNone/>
            </a:pPr>
            <a:r>
              <a:rPr lang="en-US" sz="2150" b="1" dirty="0">
                <a:solidFill>
                  <a:srgbClr val="272525"/>
                </a:solidFill>
                <a:latin typeface="Petrona" pitchFamily="34" charset="0"/>
                <a:ea typeface="Petrona" pitchFamily="34" charset="-122"/>
                <a:cs typeface="Petrona" pitchFamily="34" charset="-120"/>
              </a:rPr>
              <a:t>2</a:t>
            </a:r>
            <a:endParaRPr lang="en-US" sz="2150" dirty="0"/>
          </a:p>
        </p:txBody>
      </p:sp>
      <p:sp>
        <p:nvSpPr>
          <p:cNvPr id="16" name="Text 11"/>
          <p:cNvSpPr/>
          <p:nvPr/>
        </p:nvSpPr>
        <p:spPr>
          <a:xfrm>
            <a:off x="7306628" y="4203502"/>
            <a:ext cx="2275403" cy="284321"/>
          </a:xfrm>
          <a:prstGeom prst="rect">
            <a:avLst/>
          </a:prstGeom>
          <a:noFill/>
          <a:ln/>
        </p:spPr>
        <p:txBody>
          <a:bodyPr wrap="none" rtlCol="0" anchor="t"/>
          <a:lstStyle/>
          <a:p>
            <a:pPr marL="0" indent="0" algn="l">
              <a:lnSpc>
                <a:spcPts val="2240"/>
              </a:lnSpc>
              <a:buNone/>
            </a:pPr>
            <a:r>
              <a:rPr lang="en-US" sz="1792" b="1" dirty="0">
                <a:solidFill>
                  <a:srgbClr val="272525"/>
                </a:solidFill>
                <a:latin typeface="Petrona" pitchFamily="34" charset="0"/>
                <a:ea typeface="Petrona" pitchFamily="34" charset="-122"/>
                <a:cs typeface="Petrona" pitchFamily="34" charset="-120"/>
              </a:rPr>
              <a:t>Model Evaluation</a:t>
            </a:r>
            <a:endParaRPr lang="en-US" sz="1792" dirty="0"/>
          </a:p>
        </p:txBody>
      </p:sp>
      <p:sp>
        <p:nvSpPr>
          <p:cNvPr id="17" name="Text 12"/>
          <p:cNvSpPr/>
          <p:nvPr/>
        </p:nvSpPr>
        <p:spPr>
          <a:xfrm>
            <a:off x="7306628" y="4591764"/>
            <a:ext cx="6717030" cy="831890"/>
          </a:xfrm>
          <a:prstGeom prst="rect">
            <a:avLst/>
          </a:prstGeom>
          <a:noFill/>
          <a:ln/>
        </p:spPr>
        <p:txBody>
          <a:bodyPr wrap="square" rtlCol="0" anchor="t"/>
          <a:lstStyle/>
          <a:p>
            <a:pPr marL="0" indent="0" algn="l">
              <a:lnSpc>
                <a:spcPts val="2184"/>
              </a:lnSpc>
              <a:buNone/>
            </a:pPr>
            <a:r>
              <a:rPr lang="en-US" sz="1365" dirty="0">
                <a:solidFill>
                  <a:srgbClr val="272525"/>
                </a:solidFill>
                <a:latin typeface="Inter" pitchFamily="34" charset="0"/>
                <a:ea typeface="Inter" pitchFamily="34" charset="-122"/>
                <a:cs typeface="Inter" pitchFamily="34" charset="-120"/>
              </a:rPr>
              <a:t>The trained model is evaluated on the test set, and the accuracy and loss metrics are reported to assess the model's performance on the CIFAR-10 classification task.</a:t>
            </a:r>
            <a:endParaRPr lang="en-US" sz="1365" dirty="0"/>
          </a:p>
        </p:txBody>
      </p:sp>
      <p:sp>
        <p:nvSpPr>
          <p:cNvPr id="18" name="Shape 13"/>
          <p:cNvSpPr/>
          <p:nvPr/>
        </p:nvSpPr>
        <p:spPr>
          <a:xfrm>
            <a:off x="6525339" y="6148983"/>
            <a:ext cx="606743" cy="22860"/>
          </a:xfrm>
          <a:prstGeom prst="roundRect">
            <a:avLst>
              <a:gd name="adj" fmla="val 318523"/>
            </a:avLst>
          </a:prstGeom>
          <a:solidFill>
            <a:srgbClr val="B2D4E5"/>
          </a:solidFill>
          <a:ln/>
        </p:spPr>
      </p:sp>
      <p:sp>
        <p:nvSpPr>
          <p:cNvPr id="19" name="Shape 14"/>
          <p:cNvSpPr/>
          <p:nvPr/>
        </p:nvSpPr>
        <p:spPr>
          <a:xfrm>
            <a:off x="6158151" y="5965388"/>
            <a:ext cx="390049" cy="390049"/>
          </a:xfrm>
          <a:prstGeom prst="roundRect">
            <a:avLst>
              <a:gd name="adj" fmla="val 18668"/>
            </a:avLst>
          </a:prstGeom>
          <a:solidFill>
            <a:srgbClr val="CCEEFF"/>
          </a:solidFill>
          <a:ln w="7620">
            <a:solidFill>
              <a:srgbClr val="B2D4E5"/>
            </a:solidFill>
            <a:prstDash val="solid"/>
          </a:ln>
        </p:spPr>
      </p:sp>
      <p:sp>
        <p:nvSpPr>
          <p:cNvPr id="20" name="Text 15"/>
          <p:cNvSpPr/>
          <p:nvPr/>
        </p:nvSpPr>
        <p:spPr>
          <a:xfrm>
            <a:off x="6275903" y="6023848"/>
            <a:ext cx="154543" cy="273010"/>
          </a:xfrm>
          <a:prstGeom prst="rect">
            <a:avLst/>
          </a:prstGeom>
          <a:noFill/>
          <a:ln/>
        </p:spPr>
        <p:txBody>
          <a:bodyPr wrap="none" rtlCol="0" anchor="t"/>
          <a:lstStyle/>
          <a:p>
            <a:pPr marL="0" indent="0" algn="ctr">
              <a:lnSpc>
                <a:spcPts val="2150"/>
              </a:lnSpc>
              <a:buNone/>
            </a:pPr>
            <a:r>
              <a:rPr lang="en-US" sz="2150" b="1" dirty="0">
                <a:solidFill>
                  <a:srgbClr val="272525"/>
                </a:solidFill>
                <a:latin typeface="Petrona" pitchFamily="34" charset="0"/>
                <a:ea typeface="Petrona" pitchFamily="34" charset="-122"/>
                <a:cs typeface="Petrona" pitchFamily="34" charset="-120"/>
              </a:rPr>
              <a:t>3</a:t>
            </a:r>
            <a:endParaRPr lang="en-US" sz="2150" dirty="0"/>
          </a:p>
        </p:txBody>
      </p:sp>
      <p:sp>
        <p:nvSpPr>
          <p:cNvPr id="21" name="Text 16"/>
          <p:cNvSpPr/>
          <p:nvPr/>
        </p:nvSpPr>
        <p:spPr>
          <a:xfrm>
            <a:off x="7306628" y="5943719"/>
            <a:ext cx="2275403" cy="284321"/>
          </a:xfrm>
          <a:prstGeom prst="rect">
            <a:avLst/>
          </a:prstGeom>
          <a:noFill/>
          <a:ln/>
        </p:spPr>
        <p:txBody>
          <a:bodyPr wrap="none" rtlCol="0" anchor="t"/>
          <a:lstStyle/>
          <a:p>
            <a:pPr marL="0" indent="0" algn="l">
              <a:lnSpc>
                <a:spcPts val="2240"/>
              </a:lnSpc>
              <a:buNone/>
            </a:pPr>
            <a:r>
              <a:rPr lang="en-US" sz="1792" b="1" dirty="0">
                <a:solidFill>
                  <a:srgbClr val="272525"/>
                </a:solidFill>
                <a:latin typeface="Petrona" pitchFamily="34" charset="0"/>
                <a:ea typeface="Petrona" pitchFamily="34" charset="-122"/>
                <a:cs typeface="Petrona" pitchFamily="34" charset="-120"/>
              </a:rPr>
              <a:t>Code Snippets</a:t>
            </a:r>
            <a:endParaRPr lang="en-US" sz="1792" dirty="0"/>
          </a:p>
        </p:txBody>
      </p:sp>
      <p:sp>
        <p:nvSpPr>
          <p:cNvPr id="22" name="Text 17"/>
          <p:cNvSpPr/>
          <p:nvPr/>
        </p:nvSpPr>
        <p:spPr>
          <a:xfrm>
            <a:off x="7306628" y="6331982"/>
            <a:ext cx="6717030" cy="831890"/>
          </a:xfrm>
          <a:prstGeom prst="rect">
            <a:avLst/>
          </a:prstGeom>
          <a:noFill/>
          <a:ln/>
        </p:spPr>
        <p:txBody>
          <a:bodyPr wrap="square" rtlCol="0" anchor="t"/>
          <a:lstStyle/>
          <a:p>
            <a:pPr marL="0" indent="0" algn="l">
              <a:lnSpc>
                <a:spcPts val="2184"/>
              </a:lnSpc>
              <a:buNone/>
            </a:pPr>
            <a:r>
              <a:rPr lang="en-US" sz="1365" dirty="0">
                <a:solidFill>
                  <a:srgbClr val="272525"/>
                </a:solidFill>
                <a:latin typeface="Inter" pitchFamily="34" charset="0"/>
                <a:ea typeface="Inter" pitchFamily="34" charset="-122"/>
                <a:cs typeface="Inter" pitchFamily="34" charset="-120"/>
              </a:rPr>
              <a:t>The presentation includes code snippets that demonstrate the training and evaluation of the CNN model, allowing the audience to understand the implementation details.</a:t>
            </a:r>
            <a:endParaRPr lang="en-US" sz="136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1009888" y="762119"/>
            <a:ext cx="7060168" cy="757476"/>
          </a:xfrm>
          <a:prstGeom prst="rect">
            <a:avLst/>
          </a:prstGeom>
          <a:noFill/>
          <a:ln/>
        </p:spPr>
        <p:txBody>
          <a:bodyPr wrap="none" rtlCol="0" anchor="t"/>
          <a:lstStyle/>
          <a:p>
            <a:pPr marL="0" indent="0">
              <a:lnSpc>
                <a:spcPts val="5965"/>
              </a:lnSpc>
              <a:buNone/>
            </a:pPr>
            <a:r>
              <a:rPr lang="en-US" sz="4772" b="1" u="sng" dirty="0">
                <a:solidFill>
                  <a:srgbClr val="000000"/>
                </a:solidFill>
                <a:latin typeface="Petrona" pitchFamily="34" charset="0"/>
                <a:ea typeface="Petrona" pitchFamily="34" charset="-122"/>
                <a:cs typeface="Petrona" pitchFamily="34" charset="-120"/>
              </a:rPr>
              <a:t>Results and Visualization</a:t>
            </a:r>
            <a:endParaRPr lang="en-US" sz="4772" u="sng" dirty="0"/>
          </a:p>
        </p:txBody>
      </p:sp>
      <p:pic>
        <p:nvPicPr>
          <p:cNvPr id="5" name="Image 1" descr="preencoded.png"/>
          <p:cNvPicPr>
            <a:picLocks noChangeAspect="1"/>
          </p:cNvPicPr>
          <p:nvPr/>
        </p:nvPicPr>
        <p:blipFill>
          <a:blip r:embed="rId4"/>
          <a:stretch>
            <a:fillRect/>
          </a:stretch>
        </p:blipFill>
        <p:spPr>
          <a:xfrm>
            <a:off x="1009888" y="1981200"/>
            <a:ext cx="3972639" cy="2455188"/>
          </a:xfrm>
          <a:prstGeom prst="rect">
            <a:avLst/>
          </a:prstGeom>
        </p:spPr>
      </p:pic>
      <p:sp>
        <p:nvSpPr>
          <p:cNvPr id="6" name="Text 2"/>
          <p:cNvSpPr/>
          <p:nvPr/>
        </p:nvSpPr>
        <p:spPr>
          <a:xfrm>
            <a:off x="1009888" y="4724876"/>
            <a:ext cx="3029903" cy="378738"/>
          </a:xfrm>
          <a:prstGeom prst="rect">
            <a:avLst/>
          </a:prstGeom>
          <a:noFill/>
          <a:ln/>
        </p:spPr>
        <p:txBody>
          <a:bodyPr wrap="none" rtlCol="0" anchor="t"/>
          <a:lstStyle/>
          <a:p>
            <a:pPr marL="0" indent="0" algn="l">
              <a:lnSpc>
                <a:spcPts val="2982"/>
              </a:lnSpc>
              <a:buNone/>
            </a:pPr>
            <a:r>
              <a:rPr lang="en-US" sz="2386" b="1" dirty="0">
                <a:solidFill>
                  <a:srgbClr val="272525"/>
                </a:solidFill>
                <a:latin typeface="Petrona" pitchFamily="34" charset="0"/>
                <a:ea typeface="Petrona" pitchFamily="34" charset="-122"/>
                <a:cs typeface="Petrona" pitchFamily="34" charset="-120"/>
              </a:rPr>
              <a:t>Performance Metrics</a:t>
            </a:r>
            <a:endParaRPr lang="en-US" sz="2386" dirty="0"/>
          </a:p>
        </p:txBody>
      </p:sp>
      <p:sp>
        <p:nvSpPr>
          <p:cNvPr id="7" name="Text 3"/>
          <p:cNvSpPr/>
          <p:nvPr/>
        </p:nvSpPr>
        <p:spPr>
          <a:xfrm>
            <a:off x="1009888" y="5242084"/>
            <a:ext cx="3972639" cy="1846659"/>
          </a:xfrm>
          <a:prstGeom prst="rect">
            <a:avLst/>
          </a:prstGeom>
          <a:noFill/>
          <a:ln/>
        </p:spPr>
        <p:txBody>
          <a:bodyPr wrap="square" rtlCol="0" anchor="t"/>
          <a:lstStyle/>
          <a:p>
            <a:pPr marL="0" indent="0" algn="l">
              <a:lnSpc>
                <a:spcPts val="2908"/>
              </a:lnSpc>
              <a:buNone/>
            </a:pPr>
            <a:r>
              <a:rPr lang="en-US" sz="1818" dirty="0">
                <a:solidFill>
                  <a:srgbClr val="272525"/>
                </a:solidFill>
                <a:latin typeface="Inter" pitchFamily="34" charset="0"/>
                <a:ea typeface="Inter" pitchFamily="34" charset="-122"/>
                <a:cs typeface="Inter" pitchFamily="34" charset="-120"/>
              </a:rPr>
              <a:t>The trained CNN model achieves a test accuracy of XX% and a test loss of XX, demonstrating its effectiveness in classifying the CIFAR-10 images.</a:t>
            </a:r>
            <a:endParaRPr lang="en-US" sz="1818" dirty="0"/>
          </a:p>
        </p:txBody>
      </p:sp>
      <p:pic>
        <p:nvPicPr>
          <p:cNvPr id="8" name="Image 2" descr="preencoded.png"/>
          <p:cNvPicPr>
            <a:picLocks noChangeAspect="1"/>
          </p:cNvPicPr>
          <p:nvPr/>
        </p:nvPicPr>
        <p:blipFill>
          <a:blip r:embed="rId5"/>
          <a:stretch>
            <a:fillRect/>
          </a:stretch>
        </p:blipFill>
        <p:spPr>
          <a:xfrm>
            <a:off x="5328761" y="1981200"/>
            <a:ext cx="3972639" cy="2455188"/>
          </a:xfrm>
          <a:prstGeom prst="rect">
            <a:avLst/>
          </a:prstGeom>
        </p:spPr>
      </p:pic>
      <p:sp>
        <p:nvSpPr>
          <p:cNvPr id="9" name="Text 4"/>
          <p:cNvSpPr/>
          <p:nvPr/>
        </p:nvSpPr>
        <p:spPr>
          <a:xfrm>
            <a:off x="5328761" y="4724876"/>
            <a:ext cx="3972639" cy="757476"/>
          </a:xfrm>
          <a:prstGeom prst="rect">
            <a:avLst/>
          </a:prstGeom>
          <a:noFill/>
          <a:ln/>
        </p:spPr>
        <p:txBody>
          <a:bodyPr wrap="square" rtlCol="0" anchor="t"/>
          <a:lstStyle/>
          <a:p>
            <a:pPr marL="0" indent="0" algn="l">
              <a:lnSpc>
                <a:spcPts val="2982"/>
              </a:lnSpc>
              <a:buNone/>
            </a:pPr>
            <a:r>
              <a:rPr lang="en-US" sz="2386" b="1" dirty="0">
                <a:solidFill>
                  <a:srgbClr val="272525"/>
                </a:solidFill>
                <a:latin typeface="Petrona" pitchFamily="34" charset="0"/>
                <a:ea typeface="Petrona" pitchFamily="34" charset="-122"/>
                <a:cs typeface="Petrona" pitchFamily="34" charset="-120"/>
              </a:rPr>
              <a:t>Training and Validation Curves</a:t>
            </a:r>
            <a:endParaRPr lang="en-US" sz="2386" dirty="0"/>
          </a:p>
        </p:txBody>
      </p:sp>
      <p:sp>
        <p:nvSpPr>
          <p:cNvPr id="10" name="Text 5"/>
          <p:cNvSpPr/>
          <p:nvPr/>
        </p:nvSpPr>
        <p:spPr>
          <a:xfrm>
            <a:off x="5328761" y="5620822"/>
            <a:ext cx="3972639" cy="1846659"/>
          </a:xfrm>
          <a:prstGeom prst="rect">
            <a:avLst/>
          </a:prstGeom>
          <a:noFill/>
          <a:ln/>
        </p:spPr>
        <p:txBody>
          <a:bodyPr wrap="square" rtlCol="0" anchor="t"/>
          <a:lstStyle/>
          <a:p>
            <a:pPr marL="0" indent="0" algn="l">
              <a:lnSpc>
                <a:spcPts val="2908"/>
              </a:lnSpc>
              <a:buNone/>
            </a:pPr>
            <a:r>
              <a:rPr lang="en-US" sz="1818" dirty="0">
                <a:solidFill>
                  <a:srgbClr val="272525"/>
                </a:solidFill>
                <a:latin typeface="Inter" pitchFamily="34" charset="0"/>
                <a:ea typeface="Inter" pitchFamily="34" charset="-122"/>
                <a:cs typeface="Inter" pitchFamily="34" charset="-120"/>
              </a:rPr>
              <a:t>The presentation includes plots of the training and validation accuracy and loss curves, providing insights into the model's learning process and performance during training.</a:t>
            </a:r>
            <a:endParaRPr lang="en-US" sz="1818" dirty="0"/>
          </a:p>
        </p:txBody>
      </p:sp>
      <p:pic>
        <p:nvPicPr>
          <p:cNvPr id="11" name="Image 3" descr="preencoded.png"/>
          <p:cNvPicPr>
            <a:picLocks noChangeAspect="1"/>
          </p:cNvPicPr>
          <p:nvPr/>
        </p:nvPicPr>
        <p:blipFill>
          <a:blip r:embed="rId4"/>
          <a:stretch>
            <a:fillRect/>
          </a:stretch>
        </p:blipFill>
        <p:spPr>
          <a:xfrm>
            <a:off x="9647634" y="1981200"/>
            <a:ext cx="3972639" cy="2455188"/>
          </a:xfrm>
          <a:prstGeom prst="rect">
            <a:avLst/>
          </a:prstGeom>
        </p:spPr>
      </p:pic>
      <p:sp>
        <p:nvSpPr>
          <p:cNvPr id="12" name="Text 6"/>
          <p:cNvSpPr/>
          <p:nvPr/>
        </p:nvSpPr>
        <p:spPr>
          <a:xfrm>
            <a:off x="9647634" y="4724876"/>
            <a:ext cx="3029903" cy="378738"/>
          </a:xfrm>
          <a:prstGeom prst="rect">
            <a:avLst/>
          </a:prstGeom>
          <a:noFill/>
          <a:ln/>
        </p:spPr>
        <p:txBody>
          <a:bodyPr wrap="none" rtlCol="0" anchor="t"/>
          <a:lstStyle/>
          <a:p>
            <a:pPr marL="0" indent="0" algn="l">
              <a:lnSpc>
                <a:spcPts val="2982"/>
              </a:lnSpc>
              <a:buNone/>
            </a:pPr>
            <a:r>
              <a:rPr lang="en-US" sz="2386" b="1" dirty="0">
                <a:solidFill>
                  <a:srgbClr val="272525"/>
                </a:solidFill>
                <a:latin typeface="Petrona" pitchFamily="34" charset="0"/>
                <a:ea typeface="Petrona" pitchFamily="34" charset="-122"/>
                <a:cs typeface="Petrona" pitchFamily="34" charset="-120"/>
              </a:rPr>
              <a:t>Model Predictions</a:t>
            </a:r>
            <a:endParaRPr lang="en-US" sz="2386" dirty="0"/>
          </a:p>
        </p:txBody>
      </p:sp>
      <p:sp>
        <p:nvSpPr>
          <p:cNvPr id="13" name="Text 7"/>
          <p:cNvSpPr/>
          <p:nvPr/>
        </p:nvSpPr>
        <p:spPr>
          <a:xfrm>
            <a:off x="9647634" y="5242084"/>
            <a:ext cx="3972639" cy="1846659"/>
          </a:xfrm>
          <a:prstGeom prst="rect">
            <a:avLst/>
          </a:prstGeom>
          <a:noFill/>
          <a:ln/>
        </p:spPr>
        <p:txBody>
          <a:bodyPr wrap="square" rtlCol="0" anchor="t"/>
          <a:lstStyle/>
          <a:p>
            <a:pPr marL="0" indent="0" algn="l">
              <a:lnSpc>
                <a:spcPts val="2908"/>
              </a:lnSpc>
              <a:buNone/>
            </a:pPr>
            <a:r>
              <a:rPr lang="en-US" sz="1818" dirty="0">
                <a:solidFill>
                  <a:srgbClr val="272525"/>
                </a:solidFill>
                <a:latin typeface="Inter" pitchFamily="34" charset="0"/>
                <a:ea typeface="Inter" pitchFamily="34" charset="-122"/>
                <a:cs typeface="Inter" pitchFamily="34" charset="-120"/>
              </a:rPr>
              <a:t>The presentation showcases the model's predictions on a sample of test images, allowing the audience to visually assess the model's classification capabilities.</a:t>
            </a:r>
            <a:endParaRPr lang="en-US" sz="181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14630400" cy="2489121"/>
          </a:xfrm>
          <a:prstGeom prst="rect">
            <a:avLst/>
          </a:prstGeom>
        </p:spPr>
      </p:pic>
      <p:sp>
        <p:nvSpPr>
          <p:cNvPr id="5" name="Text 1"/>
          <p:cNvSpPr/>
          <p:nvPr/>
        </p:nvSpPr>
        <p:spPr>
          <a:xfrm>
            <a:off x="1876425" y="3196828"/>
            <a:ext cx="6883837" cy="653296"/>
          </a:xfrm>
          <a:prstGeom prst="rect">
            <a:avLst/>
          </a:prstGeom>
          <a:noFill/>
          <a:ln/>
        </p:spPr>
        <p:txBody>
          <a:bodyPr wrap="none" rtlCol="0" anchor="t"/>
          <a:lstStyle/>
          <a:p>
            <a:pPr marL="0" indent="0">
              <a:lnSpc>
                <a:spcPts val="5145"/>
              </a:lnSpc>
              <a:buNone/>
            </a:pPr>
            <a:r>
              <a:rPr lang="en-US" sz="4116" b="1" u="sng" dirty="0">
                <a:solidFill>
                  <a:srgbClr val="000000"/>
                </a:solidFill>
                <a:latin typeface="Petrona" pitchFamily="34" charset="0"/>
                <a:ea typeface="Petrona" pitchFamily="34" charset="-122"/>
                <a:cs typeface="Petrona" pitchFamily="34" charset="-120"/>
              </a:rPr>
              <a:t>Conclusion and Future Work</a:t>
            </a:r>
            <a:endParaRPr lang="en-US" sz="4116" u="sng" dirty="0"/>
          </a:p>
        </p:txBody>
      </p:sp>
      <p:pic>
        <p:nvPicPr>
          <p:cNvPr id="6" name="Image 2" descr="preencoded.png"/>
          <p:cNvPicPr>
            <a:picLocks noChangeAspect="1"/>
          </p:cNvPicPr>
          <p:nvPr/>
        </p:nvPicPr>
        <p:blipFill>
          <a:blip r:embed="rId5"/>
          <a:stretch>
            <a:fillRect/>
          </a:stretch>
        </p:blipFill>
        <p:spPr>
          <a:xfrm>
            <a:off x="1876425" y="4148733"/>
            <a:ext cx="497800" cy="497800"/>
          </a:xfrm>
          <a:prstGeom prst="rect">
            <a:avLst/>
          </a:prstGeom>
        </p:spPr>
      </p:pic>
      <p:sp>
        <p:nvSpPr>
          <p:cNvPr id="7" name="Text 2"/>
          <p:cNvSpPr/>
          <p:nvPr/>
        </p:nvSpPr>
        <p:spPr>
          <a:xfrm>
            <a:off x="1876425" y="4845606"/>
            <a:ext cx="2613541" cy="326588"/>
          </a:xfrm>
          <a:prstGeom prst="rect">
            <a:avLst/>
          </a:prstGeom>
          <a:noFill/>
          <a:ln/>
        </p:spPr>
        <p:txBody>
          <a:bodyPr wrap="none" rtlCol="0" anchor="t"/>
          <a:lstStyle/>
          <a:p>
            <a:pPr marL="0" indent="0" algn="l">
              <a:lnSpc>
                <a:spcPts val="2572"/>
              </a:lnSpc>
              <a:buNone/>
            </a:pPr>
            <a:r>
              <a:rPr lang="en-US" sz="2058" b="1" dirty="0">
                <a:solidFill>
                  <a:srgbClr val="272525"/>
                </a:solidFill>
                <a:latin typeface="Petrona" pitchFamily="34" charset="0"/>
                <a:ea typeface="Petrona" pitchFamily="34" charset="-122"/>
                <a:cs typeface="Petrona" pitchFamily="34" charset="-120"/>
              </a:rPr>
              <a:t>Summary</a:t>
            </a:r>
            <a:endParaRPr lang="en-US" sz="2058" dirty="0"/>
          </a:p>
        </p:txBody>
      </p:sp>
      <p:sp>
        <p:nvSpPr>
          <p:cNvPr id="8" name="Text 3"/>
          <p:cNvSpPr/>
          <p:nvPr/>
        </p:nvSpPr>
        <p:spPr>
          <a:xfrm>
            <a:off x="1876425" y="5291614"/>
            <a:ext cx="3426738" cy="2230279"/>
          </a:xfrm>
          <a:prstGeom prst="rect">
            <a:avLst/>
          </a:prstGeom>
          <a:noFill/>
          <a:ln/>
        </p:spPr>
        <p:txBody>
          <a:bodyPr wrap="square" rtlCol="0" anchor="t"/>
          <a:lstStyle/>
          <a:p>
            <a:pPr marL="0" indent="0" algn="l">
              <a:lnSpc>
                <a:spcPts val="2509"/>
              </a:lnSpc>
              <a:buNone/>
            </a:pPr>
            <a:r>
              <a:rPr lang="en-US" sz="1568" dirty="0">
                <a:solidFill>
                  <a:srgbClr val="272525"/>
                </a:solidFill>
                <a:latin typeface="Inter" pitchFamily="34" charset="0"/>
                <a:ea typeface="Inter" pitchFamily="34" charset="-122"/>
                <a:cs typeface="Inter" pitchFamily="34" charset="-120"/>
              </a:rPr>
              <a:t>This project has successfully demonstrated the use of Convolutional Neural Networks in classifying images from the CIFAR-10 dataset, highlighting the power of deep learning techniques in computer vision tasks.</a:t>
            </a:r>
            <a:endParaRPr lang="en-US" sz="1568" dirty="0"/>
          </a:p>
        </p:txBody>
      </p:sp>
      <p:pic>
        <p:nvPicPr>
          <p:cNvPr id="9" name="Image 3" descr="preencoded.png"/>
          <p:cNvPicPr>
            <a:picLocks noChangeAspect="1"/>
          </p:cNvPicPr>
          <p:nvPr/>
        </p:nvPicPr>
        <p:blipFill>
          <a:blip r:embed="rId6"/>
          <a:stretch>
            <a:fillRect/>
          </a:stretch>
        </p:blipFill>
        <p:spPr>
          <a:xfrm>
            <a:off x="5601772" y="4148733"/>
            <a:ext cx="497800" cy="497800"/>
          </a:xfrm>
          <a:prstGeom prst="rect">
            <a:avLst/>
          </a:prstGeom>
        </p:spPr>
      </p:pic>
      <p:sp>
        <p:nvSpPr>
          <p:cNvPr id="10" name="Text 4"/>
          <p:cNvSpPr/>
          <p:nvPr/>
        </p:nvSpPr>
        <p:spPr>
          <a:xfrm>
            <a:off x="5601772" y="4845606"/>
            <a:ext cx="2613541" cy="326588"/>
          </a:xfrm>
          <a:prstGeom prst="rect">
            <a:avLst/>
          </a:prstGeom>
          <a:noFill/>
          <a:ln/>
        </p:spPr>
        <p:txBody>
          <a:bodyPr wrap="none" rtlCol="0" anchor="t"/>
          <a:lstStyle/>
          <a:p>
            <a:pPr marL="0" indent="0" algn="l">
              <a:lnSpc>
                <a:spcPts val="2572"/>
              </a:lnSpc>
              <a:buNone/>
            </a:pPr>
            <a:r>
              <a:rPr lang="en-US" sz="2058" b="1" dirty="0">
                <a:solidFill>
                  <a:srgbClr val="272525"/>
                </a:solidFill>
                <a:latin typeface="Petrona" pitchFamily="34" charset="0"/>
                <a:ea typeface="Petrona" pitchFamily="34" charset="-122"/>
                <a:cs typeface="Petrona" pitchFamily="34" charset="-120"/>
              </a:rPr>
              <a:t>Future Work</a:t>
            </a:r>
            <a:endParaRPr lang="en-US" sz="2058" dirty="0"/>
          </a:p>
        </p:txBody>
      </p:sp>
      <p:sp>
        <p:nvSpPr>
          <p:cNvPr id="11" name="Text 5"/>
          <p:cNvSpPr/>
          <p:nvPr/>
        </p:nvSpPr>
        <p:spPr>
          <a:xfrm>
            <a:off x="5601772" y="5291614"/>
            <a:ext cx="3426738" cy="2230279"/>
          </a:xfrm>
          <a:prstGeom prst="rect">
            <a:avLst/>
          </a:prstGeom>
          <a:noFill/>
          <a:ln/>
        </p:spPr>
        <p:txBody>
          <a:bodyPr wrap="square" rtlCol="0" anchor="t"/>
          <a:lstStyle/>
          <a:p>
            <a:pPr marL="0" indent="0" algn="l">
              <a:lnSpc>
                <a:spcPts val="2509"/>
              </a:lnSpc>
              <a:buNone/>
            </a:pPr>
            <a:r>
              <a:rPr lang="en-US" sz="1568" dirty="0">
                <a:solidFill>
                  <a:srgbClr val="272525"/>
                </a:solidFill>
                <a:latin typeface="Inter" pitchFamily="34" charset="0"/>
                <a:ea typeface="Inter" pitchFamily="34" charset="-122"/>
                <a:cs typeface="Inter" pitchFamily="34" charset="-120"/>
              </a:rPr>
              <a:t>Potential improvements include exploring more advanced CNN architectures, incorporating data augmentation techniques, and investigating the model's performance on larger and more diverse image datasets.</a:t>
            </a:r>
            <a:endParaRPr lang="en-US" sz="1568" dirty="0"/>
          </a:p>
        </p:txBody>
      </p:sp>
      <p:pic>
        <p:nvPicPr>
          <p:cNvPr id="12" name="Image 4" descr="preencoded.png"/>
          <p:cNvPicPr>
            <a:picLocks noChangeAspect="1"/>
          </p:cNvPicPr>
          <p:nvPr/>
        </p:nvPicPr>
        <p:blipFill>
          <a:blip r:embed="rId7"/>
          <a:stretch>
            <a:fillRect/>
          </a:stretch>
        </p:blipFill>
        <p:spPr>
          <a:xfrm>
            <a:off x="9327118" y="4148733"/>
            <a:ext cx="497800" cy="497800"/>
          </a:xfrm>
          <a:prstGeom prst="rect">
            <a:avLst/>
          </a:prstGeom>
        </p:spPr>
      </p:pic>
      <p:sp>
        <p:nvSpPr>
          <p:cNvPr id="13" name="Text 6"/>
          <p:cNvSpPr/>
          <p:nvPr/>
        </p:nvSpPr>
        <p:spPr>
          <a:xfrm>
            <a:off x="9327118" y="4845606"/>
            <a:ext cx="2613541" cy="326588"/>
          </a:xfrm>
          <a:prstGeom prst="rect">
            <a:avLst/>
          </a:prstGeom>
          <a:noFill/>
          <a:ln/>
        </p:spPr>
        <p:txBody>
          <a:bodyPr wrap="none" rtlCol="0" anchor="t"/>
          <a:lstStyle/>
          <a:p>
            <a:pPr marL="0" indent="0" algn="l">
              <a:lnSpc>
                <a:spcPts val="2572"/>
              </a:lnSpc>
              <a:buNone/>
            </a:pPr>
            <a:r>
              <a:rPr lang="en-US" sz="2058" b="1" dirty="0">
                <a:solidFill>
                  <a:srgbClr val="272525"/>
                </a:solidFill>
                <a:latin typeface="Petrona" pitchFamily="34" charset="0"/>
                <a:ea typeface="Petrona" pitchFamily="34" charset="-122"/>
                <a:cs typeface="Petrona" pitchFamily="34" charset="-120"/>
              </a:rPr>
              <a:t>Q&amp;A</a:t>
            </a:r>
            <a:endParaRPr lang="en-US" sz="2058" dirty="0"/>
          </a:p>
        </p:txBody>
      </p:sp>
      <p:sp>
        <p:nvSpPr>
          <p:cNvPr id="14" name="Text 7"/>
          <p:cNvSpPr/>
          <p:nvPr/>
        </p:nvSpPr>
        <p:spPr>
          <a:xfrm>
            <a:off x="9327118" y="5291614"/>
            <a:ext cx="3426857" cy="1911668"/>
          </a:xfrm>
          <a:prstGeom prst="rect">
            <a:avLst/>
          </a:prstGeom>
          <a:noFill/>
          <a:ln/>
        </p:spPr>
        <p:txBody>
          <a:bodyPr wrap="square" rtlCol="0" anchor="t"/>
          <a:lstStyle/>
          <a:p>
            <a:pPr marL="0" indent="0" algn="l">
              <a:lnSpc>
                <a:spcPts val="2509"/>
              </a:lnSpc>
              <a:buNone/>
            </a:pPr>
            <a:r>
              <a:rPr lang="en-US" sz="1568" dirty="0">
                <a:solidFill>
                  <a:srgbClr val="272525"/>
                </a:solidFill>
                <a:latin typeface="Inter" pitchFamily="34" charset="0"/>
                <a:ea typeface="Inter" pitchFamily="34" charset="-122"/>
                <a:cs typeface="Inter" pitchFamily="34" charset="-120"/>
              </a:rPr>
              <a:t>The presentation concludes with an open floor for </a:t>
            </a:r>
            <a:r>
              <a:rPr lang="en-US" sz="1568" dirty="0" smtClean="0">
                <a:solidFill>
                  <a:srgbClr val="272525"/>
                </a:solidFill>
                <a:latin typeface="Inter" pitchFamily="34" charset="0"/>
                <a:ea typeface="Inter" pitchFamily="34" charset="-122"/>
                <a:cs typeface="Inter" pitchFamily="34" charset="-120"/>
              </a:rPr>
              <a:t>questions</a:t>
            </a:r>
            <a:r>
              <a:rPr lang="en-US" sz="1568" dirty="0">
                <a:solidFill>
                  <a:srgbClr val="272525"/>
                </a:solidFill>
                <a:latin typeface="Inter" pitchFamily="34" charset="0"/>
                <a:ea typeface="Inter" pitchFamily="34" charset="-122"/>
                <a:cs typeface="Inter" pitchFamily="34" charset="-120"/>
              </a:rPr>
              <a:t>.</a:t>
            </a:r>
            <a:endParaRPr lang="en-US" sz="156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923</Words>
  <Application>Microsoft Office PowerPoint</Application>
  <PresentationFormat>Custom</PresentationFormat>
  <Paragraphs>74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Inter</vt:lpstr>
      <vt:lpstr>Petrona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Priya</cp:lastModifiedBy>
  <cp:revision>2</cp:revision>
  <dcterms:created xsi:type="dcterms:W3CDTF">2024-07-31T13:49:00Z</dcterms:created>
  <dcterms:modified xsi:type="dcterms:W3CDTF">2024-07-31T13:56:13Z</dcterms:modified>
</cp:coreProperties>
</file>